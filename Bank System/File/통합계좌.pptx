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71" r:id="rId4"/>
    <p:sldId id="272" r:id="rId5"/>
    <p:sldId id="273" r:id="rId6"/>
    <p:sldId id="274" r:id="rId7"/>
    <p:sldId id="275" r:id="rId8"/>
    <p:sldId id="276" r:id="rId9"/>
    <p:sldId id="279" r:id="rId10"/>
    <p:sldId id="281" r:id="rId11"/>
    <p:sldId id="278" r:id="rId12"/>
    <p:sldId id="280" r:id="rId13"/>
  </p:sldIdLst>
  <p:sldSz cx="9144000" cy="5143500" type="screen16x9"/>
  <p:notesSz cx="7104063" cy="10234613"/>
  <p:defaultTextStyle>
    <a:defPPr>
      <a:defRPr lang="en-GB"/>
    </a:defPPr>
    <a:lvl1pPr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1pPr>
    <a:lvl2pPr marL="742950" indent="-28575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2pPr>
    <a:lvl3pPr marL="11430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3pPr>
    <a:lvl4pPr marL="16002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4pPr>
    <a:lvl5pPr marL="20574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Noto Sans CJK S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98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BEB15"/>
    <a:srgbClr val="C7C03D"/>
    <a:srgbClr val="DCD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09" d="100"/>
          <a:sy n="109" d="100"/>
        </p:scale>
        <p:origin x="120" y="76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4"/>
        <p:guide pos="298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>
            <a:extLst>
              <a:ext uri="{FF2B5EF4-FFF2-40B4-BE49-F238E27FC236}">
                <a16:creationId xmlns:a16="http://schemas.microsoft.com/office/drawing/2014/main" id="{D129132C-6298-4979-85EB-1975D9345D0D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1233488" y="909638"/>
            <a:ext cx="7972425" cy="448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1476AD18-E331-49A2-93F4-B038E4A967A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043683" y="5684120"/>
            <a:ext cx="8351660" cy="5383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593AA3B-6C3E-4162-8C84-30DFDD1B8B39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1" y="0"/>
            <a:ext cx="4529936" cy="597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tabLst>
                <a:tab pos="1109624" algn="l"/>
                <a:tab pos="2219249" algn="l"/>
                <a:tab pos="3328873" algn="l"/>
              </a:tabLst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95D6FE5-EF46-42DC-81DC-C2816E003727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909091" y="0"/>
            <a:ext cx="4529936" cy="597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tabLst>
                <a:tab pos="1109624" algn="l"/>
                <a:tab pos="2219249" algn="l"/>
                <a:tab pos="3328873" algn="l"/>
              </a:tabLst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ko-KR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1C62398-568A-444E-9F9E-E03A2C3F79FA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1" y="11368239"/>
            <a:ext cx="4529936" cy="597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tabLst>
                <a:tab pos="1109624" algn="l"/>
                <a:tab pos="2219249" algn="l"/>
                <a:tab pos="3328873" algn="l"/>
              </a:tabLst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ko-KR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FDCC715D-6E5D-49DD-8168-F55A79C9ED8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5909091" y="11368239"/>
            <a:ext cx="4529936" cy="597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1109624" algn="l"/>
                <a:tab pos="2219249" algn="l"/>
                <a:tab pos="3328873" algn="l"/>
              </a:tabLst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96D06C48-50DB-4F56-AD20-77214C91FEE9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009D1D-7F2D-45D6-A85B-933E09ACA06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EE8C0BE-E773-4913-BF88-64F2EB82A494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48129" name="Rectangle 1">
            <a:extLst>
              <a:ext uri="{FF2B5EF4-FFF2-40B4-BE49-F238E27FC236}">
                <a16:creationId xmlns:a16="http://schemas.microsoft.com/office/drawing/2014/main" id="{FC4A9213-0375-4494-9AB5-EE14C7BEF378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8AD7BFD-A22A-4C99-AA4F-AD3067F9AB9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691109-E1DD-483E-88A3-ECD73B2038D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6A4CE57-E635-44BE-B108-77D843AD6C4F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49153" name="Rectangle 1">
            <a:extLst>
              <a:ext uri="{FF2B5EF4-FFF2-40B4-BE49-F238E27FC236}">
                <a16:creationId xmlns:a16="http://schemas.microsoft.com/office/drawing/2014/main" id="{9C09701F-26F0-4CE3-9D83-31FE57ECE4AD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0854775C-4394-4B56-9EA9-8FB2289E5E6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6CE1C0-22B6-4307-8B31-4B4B7DF2E03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4FF915F-9C36-4960-BBD7-7EF322BD3E7B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51201" name="Rectangle 1">
            <a:extLst>
              <a:ext uri="{FF2B5EF4-FFF2-40B4-BE49-F238E27FC236}">
                <a16:creationId xmlns:a16="http://schemas.microsoft.com/office/drawing/2014/main" id="{9F63116D-5842-4AFC-B430-C5C88D14BD70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BBF2312C-ED00-4572-AF83-77FA35EB6BA0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7DA363-440F-4704-87CD-E8D26A8D073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39A4E5F-7844-48B7-A919-49BE145BA50F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52225" name="Rectangle 1">
            <a:extLst>
              <a:ext uri="{FF2B5EF4-FFF2-40B4-BE49-F238E27FC236}">
                <a16:creationId xmlns:a16="http://schemas.microsoft.com/office/drawing/2014/main" id="{9A674B1A-B559-439E-BFED-C652F8E7AB58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0C365E65-0317-4EE5-8E1A-F41F9E03DBBA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5C4E3-9F3B-4164-B004-8399EFF2DA8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60121A8-6A2D-4B40-91AE-0D22C60A3F71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53249" name="Rectangle 1">
            <a:extLst>
              <a:ext uri="{FF2B5EF4-FFF2-40B4-BE49-F238E27FC236}">
                <a16:creationId xmlns:a16="http://schemas.microsoft.com/office/drawing/2014/main" id="{990B6612-DBFC-463F-A3B9-A25F0AB9036D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52DE16EC-B073-4A2D-A36A-5065CDD5CE7E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88CF5D-267F-41FE-9BD8-F18A9A72CA3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6F7D777-D7FB-44EC-9267-EE50B1CE4974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54273" name="Rectangle 1">
            <a:extLst>
              <a:ext uri="{FF2B5EF4-FFF2-40B4-BE49-F238E27FC236}">
                <a16:creationId xmlns:a16="http://schemas.microsoft.com/office/drawing/2014/main" id="{423AA1DA-25E7-4528-93A3-285828CDE879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27C5219F-FB46-41F0-94E4-0E18477DE29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55A525-38D1-48A1-A5D3-49B7258843D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3E659AA-E69F-4900-BB9D-FDCB11AF6977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55297" name="Rectangle 1">
            <a:extLst>
              <a:ext uri="{FF2B5EF4-FFF2-40B4-BE49-F238E27FC236}">
                <a16:creationId xmlns:a16="http://schemas.microsoft.com/office/drawing/2014/main" id="{C56592CC-B10D-4EBC-A9BF-ED749C6E2682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66074A6F-004B-42CE-94C2-07AD4BB226D2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43D964-F02E-44B9-BE90-497019FB83C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2802FE9-8517-4D0E-B1C0-BB0A9A1AA124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56321" name="Rectangle 1">
            <a:extLst>
              <a:ext uri="{FF2B5EF4-FFF2-40B4-BE49-F238E27FC236}">
                <a16:creationId xmlns:a16="http://schemas.microsoft.com/office/drawing/2014/main" id="{BF73ACC8-1597-44CC-869C-31C4F7A8D632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24607ED6-E9F1-41E3-9A7E-32B41063461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D613C5-8F38-46FC-9576-D58D926BB7D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1C92631-E178-4DEF-A87B-31C758ED95C5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59393" name="Rectangle 1">
            <a:extLst>
              <a:ext uri="{FF2B5EF4-FFF2-40B4-BE49-F238E27FC236}">
                <a16:creationId xmlns:a16="http://schemas.microsoft.com/office/drawing/2014/main" id="{24BDDA42-DB10-48AB-BF37-8AB81858A8D4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4A0DCBA8-A519-4B0F-B256-91C6F6CD2668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A08E65-78F6-4A64-8DD6-6624D976D11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174E390-CC3E-4AE0-9255-F013450BB969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61441" name="Rectangle 1">
            <a:extLst>
              <a:ext uri="{FF2B5EF4-FFF2-40B4-BE49-F238E27FC236}">
                <a16:creationId xmlns:a16="http://schemas.microsoft.com/office/drawing/2014/main" id="{F6AEB264-678C-4255-8103-25EBE2D18592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8CD7FD82-BE40-4B1E-AB00-6CB2532F7B3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E3920-4CF9-4807-A011-F30583D9580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26E34D2-7110-4D7A-836C-EFA29B0D582F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58369" name="Rectangle 1">
            <a:extLst>
              <a:ext uri="{FF2B5EF4-FFF2-40B4-BE49-F238E27FC236}">
                <a16:creationId xmlns:a16="http://schemas.microsoft.com/office/drawing/2014/main" id="{CB415714-E6D8-478A-A1C7-0F1B486FF4F6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D1E6C077-7F09-4A41-9E3E-B03C59D2CC4B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C7C8E0-E736-433C-80ED-3D9A075F6CE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6D6A9AF-83B0-4A77-8F84-A44A908C3A06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60417" name="Rectangle 1">
            <a:extLst>
              <a:ext uri="{FF2B5EF4-FFF2-40B4-BE49-F238E27FC236}">
                <a16:creationId xmlns:a16="http://schemas.microsoft.com/office/drawing/2014/main" id="{EEC7D62E-DD09-4C74-AA40-F5CB733A5CB1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1231900" y="909638"/>
            <a:ext cx="7977188" cy="44862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0ACC293-6AB7-46B2-9AF4-83E8E332405C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1043684" y="5684120"/>
            <a:ext cx="8353852" cy="5385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0962" tIns="55481" rIns="110962" bIns="55481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24CF5-494C-4132-8EA5-A98B1A2AC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1858B6-90BE-4A29-A4AC-72EF1EDF5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4996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0F283-943F-41BB-8EF1-35FEF0E5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1A7E9A-8C87-4505-A203-599DE814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6036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F978B-36E3-4C0E-B3A3-BA1BECD3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D25974-C9F5-4E84-8479-49516D207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43489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6CE56-3622-4538-8E61-CF6E249A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7E2F26-943E-4B34-A19F-2958C19EB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3325"/>
            <a:ext cx="4037013" cy="29813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CCFEDF-668F-4C00-9470-74B02321E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6613" y="1203325"/>
            <a:ext cx="4038600" cy="29813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70373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731D-B003-4547-A80A-6DB20DD2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9A128E-94A1-4FB9-BA7B-717CF443E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063816-4D59-4F7C-B118-DC5AD0F6F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228FA3-E5BC-4624-A0A0-9C5B63358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2D57FB-4E60-4124-ADF3-B5ADEA378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513538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65356-097C-4CE6-89BC-07C3BDB8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314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4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10247-F1D8-4B22-80F2-23C0B445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9DA19F-25ED-4EFA-AB62-87D7236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11191D-3AAB-4896-8013-5788C4043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46739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DAA5F-1BAA-4C28-90F9-367DB18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FD19DC-7750-4F1E-869B-8D8446B01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9B7A72-319B-4C35-B750-D472706FE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09409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F1802-AE99-489C-866C-3056A917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8489A7-E6C2-4379-B2CA-398268F49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556545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5219DD-FD03-448C-B73F-EA138F48A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04788"/>
            <a:ext cx="2055813" cy="39798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646ED8-BD13-451B-85BB-AC814BABA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04788"/>
            <a:ext cx="6019800" cy="39798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72840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019662A8-AC49-44F2-AA28-F18E2A768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4788"/>
            <a:ext cx="8228013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/>
              <a:t>Click to edit the title text format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E5B0FBC0-7126-4500-BC7E-775DD2C69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3325"/>
            <a:ext cx="8228013" cy="298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/>
              <a:t>Click to edit the outline text format</a:t>
            </a:r>
          </a:p>
          <a:p>
            <a:pPr lvl="1"/>
            <a:r>
              <a:rPr lang="en-GB" altLang="ko-KR"/>
              <a:t>Second Outline Level</a:t>
            </a:r>
          </a:p>
          <a:p>
            <a:pPr lvl="2"/>
            <a:r>
              <a:rPr lang="en-GB" altLang="ko-KR"/>
              <a:t>Third Outline Level</a:t>
            </a:r>
          </a:p>
          <a:p>
            <a:pPr lvl="3"/>
            <a:r>
              <a:rPr lang="en-GB" altLang="ko-KR"/>
              <a:t>Fourth Outline Level</a:t>
            </a:r>
          </a:p>
          <a:p>
            <a:pPr lvl="4"/>
            <a:r>
              <a:rPr lang="en-GB" altLang="ko-KR"/>
              <a:t>Fifth Outline Level</a:t>
            </a:r>
          </a:p>
          <a:p>
            <a:pPr lvl="4"/>
            <a:r>
              <a:rPr lang="en-GB" altLang="ko-KR"/>
              <a:t>Sixth Outline Level</a:t>
            </a:r>
          </a:p>
          <a:p>
            <a:pPr lvl="4"/>
            <a:r>
              <a:rPr lang="en-GB" altLang="ko-KR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cs typeface="Noto Sans CJK SC" charset="0"/>
        </a:defRPr>
      </a:lvl2pPr>
      <a:lvl3pPr marL="1143000" indent="-228600"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cs typeface="Noto Sans CJK SC" charset="0"/>
        </a:defRPr>
      </a:lvl3pPr>
      <a:lvl4pPr marL="1600200" indent="-228600"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cs typeface="Noto Sans CJK SC" charset="0"/>
        </a:defRPr>
      </a:lvl4pPr>
      <a:lvl5pPr marL="2057400" indent="-228600"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cs typeface="Noto Sans CJK SC" charset="0"/>
        </a:defRPr>
      </a:lvl5pPr>
      <a:lvl6pPr marL="2514600" indent="-228600"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cs typeface="Noto Sans CJK SC" charset="0"/>
        </a:defRPr>
      </a:lvl6pPr>
      <a:lvl7pPr marL="2971800" indent="-228600"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cs typeface="Noto Sans CJK SC" charset="0"/>
        </a:defRPr>
      </a:lvl7pPr>
      <a:lvl8pPr marL="3429000" indent="-228600"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cs typeface="Noto Sans CJK SC" charset="0"/>
        </a:defRPr>
      </a:lvl8pPr>
      <a:lvl9pPr marL="3886200" indent="-228600" algn="l" rtl="0" eaLnBrk="1" fontAlgn="base" latinLnBrk="1" hangingPunct="1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cs typeface="Noto Sans CJK SC" charset="0"/>
        </a:defRPr>
      </a:lvl9pPr>
    </p:titleStyle>
    <p:bodyStyle>
      <a:lvl1pPr marL="342900" indent="-342900" algn="l" rtl="0" eaLnBrk="1" fontAlgn="base" latinLnBrk="1" hangingPunct="1">
        <a:lnSpc>
          <a:spcPct val="102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lnSpc>
          <a:spcPct val="102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lnSpc>
          <a:spcPct val="102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lnSpc>
          <a:spcPct val="102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C:\Users\asd\Desktop\&#12615;&#12615;\p.%20&#51060;&#51648;&#50976;\&#53685;&#54633;&#44228;&#51340;%20&#49884;&#49828;&#53596;\&#50689;&#49345;%20&#54200;&#51665;Davinchi%20Resolve\&#53685;&#54633;%20&#44228;&#51340;%20&#49884;&#49828;&#53596;.mov" TargetMode="External"/><Relationship Id="rId1" Type="http://schemas.microsoft.com/office/2007/relationships/media" Target="file:///C:\Users\asd\Desktop\&#12615;&#12615;\p.%20&#51060;&#51648;&#50976;\&#53685;&#54633;&#44228;&#51340;%20&#49884;&#49828;&#53596;\&#50689;&#49345;%20&#54200;&#51665;Davinchi%20Resolve\&#53685;&#54633;%20&#44228;&#51340;%20&#49884;&#49828;&#53596;.mov" TargetMode="Externa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AutoShape 1">
            <a:extLst>
              <a:ext uri="{FF2B5EF4-FFF2-40B4-BE49-F238E27FC236}">
                <a16:creationId xmlns:a16="http://schemas.microsoft.com/office/drawing/2014/main" id="{323BEC64-0A66-4C20-A520-BA6D0A91D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-1371600"/>
            <a:ext cx="5486400" cy="5486400"/>
          </a:xfrm>
          <a:custGeom>
            <a:avLst/>
            <a:gdLst>
              <a:gd name="G0" fmla="*/ 15240 1 2"/>
              <a:gd name="G1" fmla="*/ 1 48365 11520"/>
              <a:gd name="G2" fmla="*/ G1 32767 1"/>
              <a:gd name="G3" fmla="*/ G2 1 32767"/>
              <a:gd name="G4" fmla="cos G0 G3"/>
              <a:gd name="G5" fmla="*/ 15240 1 2"/>
              <a:gd name="G6" fmla="*/ 1 48365 11520"/>
              <a:gd name="G7" fmla="*/ G6 32767 1"/>
              <a:gd name="G8" fmla="*/ G7 1 32767"/>
              <a:gd name="G9" fmla="sin G5 G8"/>
              <a:gd name="G10" fmla="*/ 15240 1 2"/>
              <a:gd name="G11" fmla="+- G10 0 G4"/>
              <a:gd name="G12" fmla="+- G10 G4 0"/>
              <a:gd name="G13" fmla="+- G12 0 0"/>
              <a:gd name="G14" fmla="*/ 15240 1 2"/>
              <a:gd name="G15" fmla="+- G14 0 G9"/>
              <a:gd name="G16" fmla="+- G14 G9 0"/>
              <a:gd name="G17" fmla="+- G16 0 0"/>
              <a:gd name="G18" fmla="+- 15240 0 0"/>
              <a:gd name="G19" fmla="+- 152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7620"/>
                </a:moveTo>
                <a:lnTo>
                  <a:pt x="7620" y="7620"/>
                </a:lnTo>
                <a:lnTo>
                  <a:pt x="180" y="90"/>
                </a:lnTo>
                <a:lnTo>
                  <a:pt x="7620" y="7620"/>
                </a:lnTo>
                <a:lnTo>
                  <a:pt x="270" y="90"/>
                </a:lnTo>
                <a:close/>
              </a:path>
            </a:pathLst>
          </a:custGeom>
          <a:solidFill>
            <a:srgbClr val="1B3A6B">
              <a:alpha val="59999"/>
            </a:srgbClr>
          </a:solidFill>
          <a:ln w="12600" cap="flat">
            <a:solidFill>
              <a:srgbClr val="1B3A6B">
                <a:alpha val="59999"/>
              </a:srgb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5362" name="AutoShape 2">
            <a:extLst>
              <a:ext uri="{FF2B5EF4-FFF2-40B4-BE49-F238E27FC236}">
                <a16:creationId xmlns:a16="http://schemas.microsoft.com/office/drawing/2014/main" id="{56E36469-A6BA-4D48-BAC3-F8EDC17D9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28800" y="2743200"/>
            <a:ext cx="4572000" cy="4572000"/>
          </a:xfrm>
          <a:custGeom>
            <a:avLst/>
            <a:gdLst>
              <a:gd name="G0" fmla="*/ 12700 1 2"/>
              <a:gd name="G1" fmla="*/ 1 48365 11520"/>
              <a:gd name="G2" fmla="*/ G1 32767 1"/>
              <a:gd name="G3" fmla="*/ G2 1 32767"/>
              <a:gd name="G4" fmla="cos G0 G3"/>
              <a:gd name="G5" fmla="*/ 12700 1 2"/>
              <a:gd name="G6" fmla="*/ 1 48365 11520"/>
              <a:gd name="G7" fmla="*/ G6 32767 1"/>
              <a:gd name="G8" fmla="*/ G7 1 32767"/>
              <a:gd name="G9" fmla="sin G5 G8"/>
              <a:gd name="G10" fmla="*/ 12700 1 2"/>
              <a:gd name="G11" fmla="+- G10 0 G4"/>
              <a:gd name="G12" fmla="+- G10 G4 0"/>
              <a:gd name="G13" fmla="+- G12 0 0"/>
              <a:gd name="G14" fmla="*/ 12700 1 2"/>
              <a:gd name="G15" fmla="+- G14 0 G9"/>
              <a:gd name="G16" fmla="+- G14 G9 0"/>
              <a:gd name="G17" fmla="+- G16 0 0"/>
              <a:gd name="G18" fmla="+- 12700 0 0"/>
              <a:gd name="G19" fmla="+- 1270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6350"/>
                </a:moveTo>
                <a:lnTo>
                  <a:pt x="6350" y="6350"/>
                </a:lnTo>
                <a:lnTo>
                  <a:pt x="180" y="90"/>
                </a:lnTo>
                <a:lnTo>
                  <a:pt x="6350" y="6350"/>
                </a:lnTo>
                <a:lnTo>
                  <a:pt x="270" y="90"/>
                </a:lnTo>
                <a:close/>
              </a:path>
            </a:pathLst>
          </a:custGeom>
          <a:solidFill>
            <a:srgbClr val="0A1A3A">
              <a:alpha val="79999"/>
            </a:srgbClr>
          </a:solidFill>
          <a:ln w="12600" cap="flat">
            <a:solidFill>
              <a:srgbClr val="0A1A3A">
                <a:alpha val="79999"/>
              </a:srgb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505A92F-8766-43B1-BD89-93DDACDD8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914400"/>
            <a:ext cx="7315200" cy="146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6000" b="1">
                <a:solidFill>
                  <a:srgbClr val="FFFFFF"/>
                </a:solidFill>
                <a:latin typeface="Georgia" panose="02040502050405020303" pitchFamily="18" charset="0"/>
              </a:rPr>
              <a:t>Bank System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CED8F037-DC40-4BE0-9FC0-B8A4B5062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32038"/>
            <a:ext cx="5486400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2200">
                <a:solidFill>
                  <a:srgbClr val="C9A84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통합 계좌 관리 시스템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6E47B63-9861-411D-A069-0492ADA9B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63875"/>
            <a:ext cx="5029200" cy="36513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E85B2892-3B05-4492-9127-98CA4FF22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246438"/>
            <a:ext cx="365760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ko-KR" altLang="en-US" sz="1500" dirty="0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제출자 ： 조지민</a:t>
            </a:r>
            <a:endParaRPr lang="zh-CN" altLang="ko-KR" sz="1500" dirty="0">
              <a:solidFill>
                <a:srgbClr val="D0C8A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86E35963-5FED-46AF-88A6-DE1760A38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630613"/>
            <a:ext cx="365760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ko-KR" altLang="en-US" sz="1500" dirty="0" err="1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과정명</a:t>
            </a:r>
            <a:r>
              <a:rPr lang="ko-KR" altLang="en-US" sz="1500" dirty="0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： </a:t>
            </a:r>
            <a:r>
              <a:rPr lang="ko-KR" altLang="en-US" sz="1500" dirty="0" err="1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Ａ</a:t>
            </a:r>
            <a:r>
              <a:rPr lang="ko-KR" altLang="en-US" sz="1500" dirty="0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sz="1500" dirty="0" err="1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Ｉ</a:t>
            </a:r>
            <a:r>
              <a:rPr lang="ko-KR" altLang="en-US" sz="1500" dirty="0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sz="1500" dirty="0" err="1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Ｓ</a:t>
            </a:r>
            <a:r>
              <a:rPr lang="ko-KR" altLang="en-US" sz="1500" dirty="0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sz="1500" dirty="0" err="1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Ｗ</a:t>
            </a:r>
            <a:endParaRPr lang="en-US" altLang="ko-KR" sz="1500" dirty="0">
              <a:solidFill>
                <a:srgbClr val="D0C8A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77A95CE0-6760-4B86-BDB9-00249C2EC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014788"/>
            <a:ext cx="365760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ko-KR" altLang="en-US" sz="1500" dirty="0">
                <a:solidFill>
                  <a:srgbClr val="D0C8A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２０２６ 。０４。１７</a:t>
            </a:r>
            <a:endParaRPr lang="en-US" altLang="ko-KR" sz="1500" dirty="0">
              <a:solidFill>
                <a:srgbClr val="D0C8A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961CE357-CE71-4AB7-82EA-F52EDC876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65700"/>
            <a:ext cx="1646238" cy="163513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0D40FF72-F050-4D58-9C63-F2FC35868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2302857-EB7E-46DC-BC41-F438436CE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PRESENTATION TABLE OF CONTENTS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718DC90-4A8D-4E9E-8EA7-BA70EBA3A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E3421311-6956-47B1-92B1-C3ED3CE8E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1006475"/>
            <a:ext cx="1992312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87681B31-DDDB-400D-B96A-468F380F1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2633663"/>
            <a:ext cx="1992312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E3A95C2E-DFA6-4B1B-A3BC-5E1063239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1169988"/>
            <a:ext cx="547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1B957453-D29F-4259-932F-A9FB30990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66370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시스템 구조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2A80293F-6A42-4843-B8FC-A7AD11C7A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07645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레이어 </a:t>
            </a:r>
            <a:r>
              <a:rPr lang="ko-KR" altLang="en-US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＆ 코드</a:t>
            </a:r>
            <a:r>
              <a:rPr lang="zh-CN" altLang="ko-KR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설계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52719915-1774-493F-8788-0E0662AEE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1006475"/>
            <a:ext cx="1992313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348EF194-A696-4F40-9263-EB39F937F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2633663"/>
            <a:ext cx="1992313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ED2EC8ED-CE1C-403B-B93D-8CF1C2890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1169988"/>
            <a:ext cx="547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D0D8F683-8376-4847-B919-A6618CD36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166370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메뉴 흐름도</a:t>
            </a:r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D55CB1D6-0A1A-4F31-8F19-41A77484B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07645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사용자 여정 및 제어</a:t>
            </a:r>
          </a:p>
        </p:txBody>
      </p:sp>
      <p:sp>
        <p:nvSpPr>
          <p:cNvPr id="16398" name="Rectangle 14">
            <a:extLst>
              <a:ext uri="{FF2B5EF4-FFF2-40B4-BE49-F238E27FC236}">
                <a16:creationId xmlns:a16="http://schemas.microsoft.com/office/drawing/2014/main" id="{519B339A-84EE-4BB9-A08D-A67F35CD2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1006475"/>
            <a:ext cx="1992312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399" name="Rectangle 15">
            <a:extLst>
              <a:ext uri="{FF2B5EF4-FFF2-40B4-BE49-F238E27FC236}">
                <a16:creationId xmlns:a16="http://schemas.microsoft.com/office/drawing/2014/main" id="{E3EEE3BF-0F62-4D9A-9B41-4C3C0E5D3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633663"/>
            <a:ext cx="1992312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7A8018D4-AF7E-4249-ADA3-226AF5AF7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25" y="1169988"/>
            <a:ext cx="547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1FA5F2E0-9607-468C-8532-F4845A645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166370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기능 명세</a:t>
            </a:r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9C829159-C21A-4ECB-92F1-0B79A3FA5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207645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요구사항 및 구현 규칙</a:t>
            </a:r>
          </a:p>
        </p:txBody>
      </p:sp>
      <p:sp>
        <p:nvSpPr>
          <p:cNvPr id="16403" name="Rectangle 19">
            <a:extLst>
              <a:ext uri="{FF2B5EF4-FFF2-40B4-BE49-F238E27FC236}">
                <a16:creationId xmlns:a16="http://schemas.microsoft.com/office/drawing/2014/main" id="{6E65E46E-0D50-420D-B6FE-C57A7549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1006475"/>
            <a:ext cx="1992313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04" name="Rectangle 20">
            <a:extLst>
              <a:ext uri="{FF2B5EF4-FFF2-40B4-BE49-F238E27FC236}">
                <a16:creationId xmlns:a16="http://schemas.microsoft.com/office/drawing/2014/main" id="{D22DBFFB-E0F9-4C97-90DB-9987ED060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2633663"/>
            <a:ext cx="1992313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05" name="Rectangle 21">
            <a:extLst>
              <a:ext uri="{FF2B5EF4-FFF2-40B4-BE49-F238E27FC236}">
                <a16:creationId xmlns:a16="http://schemas.microsoft.com/office/drawing/2014/main" id="{AF4BAD87-7CBB-4AF7-9666-6878A084A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0" y="1169988"/>
            <a:ext cx="547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04</a:t>
            </a:r>
          </a:p>
        </p:txBody>
      </p:sp>
      <p:sp>
        <p:nvSpPr>
          <p:cNvPr id="16406" name="Rectangle 22">
            <a:extLst>
              <a:ext uri="{FF2B5EF4-FFF2-40B4-BE49-F238E27FC236}">
                <a16:creationId xmlns:a16="http://schemas.microsoft.com/office/drawing/2014/main" id="{4A668748-5CE5-4F6B-B4B6-719616371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166370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구현 코드</a:t>
            </a:r>
          </a:p>
        </p:txBody>
      </p:sp>
      <p:sp>
        <p:nvSpPr>
          <p:cNvPr id="16407" name="Rectangle 23">
            <a:extLst>
              <a:ext uri="{FF2B5EF4-FFF2-40B4-BE49-F238E27FC236}">
                <a16:creationId xmlns:a16="http://schemas.microsoft.com/office/drawing/2014/main" id="{596D757C-7F1A-470E-B890-540B5DE9B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07645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로직 및 알고리즘</a:t>
            </a:r>
          </a:p>
        </p:txBody>
      </p:sp>
      <p:sp>
        <p:nvSpPr>
          <p:cNvPr id="16408" name="Rectangle 24">
            <a:extLst>
              <a:ext uri="{FF2B5EF4-FFF2-40B4-BE49-F238E27FC236}">
                <a16:creationId xmlns:a16="http://schemas.microsoft.com/office/drawing/2014/main" id="{480C7DE6-231B-46D9-8B17-A527F62E9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879725"/>
            <a:ext cx="1992313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09" name="Rectangle 25">
            <a:extLst>
              <a:ext uri="{FF2B5EF4-FFF2-40B4-BE49-F238E27FC236}">
                <a16:creationId xmlns:a16="http://schemas.microsoft.com/office/drawing/2014/main" id="{8C098EF9-3D7A-4028-9030-BF6895BD0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508500"/>
            <a:ext cx="1992313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10" name="Rectangle 26">
            <a:extLst>
              <a:ext uri="{FF2B5EF4-FFF2-40B4-BE49-F238E27FC236}">
                <a16:creationId xmlns:a16="http://schemas.microsoft.com/office/drawing/2014/main" id="{C48147AB-3CF1-4FA7-A24C-B06F95D6F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3044825"/>
            <a:ext cx="547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05</a:t>
            </a:r>
          </a:p>
        </p:txBody>
      </p:sp>
      <p:sp>
        <p:nvSpPr>
          <p:cNvPr id="16411" name="Rectangle 27">
            <a:extLst>
              <a:ext uri="{FF2B5EF4-FFF2-40B4-BE49-F238E27FC236}">
                <a16:creationId xmlns:a16="http://schemas.microsoft.com/office/drawing/2014/main" id="{7CA553FD-85F9-41B8-97E8-7085EBE5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3538538"/>
            <a:ext cx="180975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ko-KR" altLang="en-US" sz="13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테이블 설명</a:t>
            </a:r>
            <a:endParaRPr lang="zh-CN" altLang="ko-KR" sz="1300" b="1" dirty="0">
              <a:solidFill>
                <a:srgbClr val="0D2149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412" name="Rectangle 28">
            <a:extLst>
              <a:ext uri="{FF2B5EF4-FFF2-40B4-BE49-F238E27FC236}">
                <a16:creationId xmlns:a16="http://schemas.microsoft.com/office/drawing/2014/main" id="{F7B73E9B-0E8A-4C78-A321-82405C865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394970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ko-KR" altLang="en-US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테이블 역할 정리</a:t>
            </a:r>
            <a:endParaRPr lang="zh-CN" altLang="ko-KR" sz="1100" dirty="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413" name="Rectangle 29">
            <a:extLst>
              <a:ext uri="{FF2B5EF4-FFF2-40B4-BE49-F238E27FC236}">
                <a16:creationId xmlns:a16="http://schemas.microsoft.com/office/drawing/2014/main" id="{2E8D4791-1493-4325-B742-CDA46FF11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79725"/>
            <a:ext cx="1992313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14" name="Rectangle 30">
            <a:extLst>
              <a:ext uri="{FF2B5EF4-FFF2-40B4-BE49-F238E27FC236}">
                <a16:creationId xmlns:a16="http://schemas.microsoft.com/office/drawing/2014/main" id="{800645F2-AF2C-498E-B331-4D450D91F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08500"/>
            <a:ext cx="1992313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15" name="Rectangle 31">
            <a:extLst>
              <a:ext uri="{FF2B5EF4-FFF2-40B4-BE49-F238E27FC236}">
                <a16:creationId xmlns:a16="http://schemas.microsoft.com/office/drawing/2014/main" id="{14DE320F-CE80-46FA-9177-7FA83C472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3044825"/>
            <a:ext cx="547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06</a:t>
            </a:r>
          </a:p>
        </p:txBody>
      </p:sp>
      <p:sp>
        <p:nvSpPr>
          <p:cNvPr id="16416" name="Rectangle 32">
            <a:extLst>
              <a:ext uri="{FF2B5EF4-FFF2-40B4-BE49-F238E27FC236}">
                <a16:creationId xmlns:a16="http://schemas.microsoft.com/office/drawing/2014/main" id="{58E0FABE-4DB9-46E1-9FE0-795567E19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3538538"/>
            <a:ext cx="180975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제작 과정</a:t>
            </a:r>
          </a:p>
        </p:txBody>
      </p:sp>
      <p:sp>
        <p:nvSpPr>
          <p:cNvPr id="16417" name="Rectangle 33">
            <a:extLst>
              <a:ext uri="{FF2B5EF4-FFF2-40B4-BE49-F238E27FC236}">
                <a16:creationId xmlns:a16="http://schemas.microsoft.com/office/drawing/2014/main" id="{03459E83-12CB-4806-B3A6-83CD9CF7E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394970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ko-KR" altLang="en-US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시연</a:t>
            </a:r>
            <a:r>
              <a:rPr lang="zh-CN" altLang="ko-KR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영상 및 </a:t>
            </a:r>
            <a:r>
              <a:rPr lang="en-US" altLang="ko-KR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ER </a:t>
            </a:r>
            <a:r>
              <a:rPr lang="zh-CN" altLang="ko-KR" sz="11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설계</a:t>
            </a:r>
          </a:p>
        </p:txBody>
      </p:sp>
      <p:sp>
        <p:nvSpPr>
          <p:cNvPr id="16418" name="Rectangle 34">
            <a:extLst>
              <a:ext uri="{FF2B5EF4-FFF2-40B4-BE49-F238E27FC236}">
                <a16:creationId xmlns:a16="http://schemas.microsoft.com/office/drawing/2014/main" id="{1007519A-279F-4AD2-B073-AB906D14A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2872701"/>
            <a:ext cx="1992313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19" name="Rectangle 35">
            <a:extLst>
              <a:ext uri="{FF2B5EF4-FFF2-40B4-BE49-F238E27FC236}">
                <a16:creationId xmlns:a16="http://schemas.microsoft.com/office/drawing/2014/main" id="{58517CA5-8C5C-40F3-8EA9-0BB51360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4508500"/>
            <a:ext cx="1992313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420" name="Rectangle 36">
            <a:extLst>
              <a:ext uri="{FF2B5EF4-FFF2-40B4-BE49-F238E27FC236}">
                <a16:creationId xmlns:a16="http://schemas.microsoft.com/office/drawing/2014/main" id="{A7F4317E-5E65-43E2-9531-FF81CD86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044825"/>
            <a:ext cx="547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07</a:t>
            </a:r>
          </a:p>
        </p:txBody>
      </p:sp>
      <p:sp>
        <p:nvSpPr>
          <p:cNvPr id="16421" name="Rectangle 37">
            <a:extLst>
              <a:ext uri="{FF2B5EF4-FFF2-40B4-BE49-F238E27FC236}">
                <a16:creationId xmlns:a16="http://schemas.microsoft.com/office/drawing/2014/main" id="{683144E8-1123-4B91-9DDC-CA02C6BFA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3538538"/>
            <a:ext cx="180975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마무리</a:t>
            </a:r>
          </a:p>
        </p:txBody>
      </p:sp>
      <p:sp>
        <p:nvSpPr>
          <p:cNvPr id="16422" name="Rectangle 38">
            <a:extLst>
              <a:ext uri="{FF2B5EF4-FFF2-40B4-BE49-F238E27FC236}">
                <a16:creationId xmlns:a16="http://schemas.microsoft.com/office/drawing/2014/main" id="{74323F1A-BA89-41FB-9613-B69A7BD1C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3949700"/>
            <a:ext cx="18097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결론 및 개선 방향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5AA9D49E-D058-4CA0-B9CD-738FFF0A5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4D2FFF1E-AF7F-49FF-B872-600B57082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SYSTEM ARCHITECTURE &amp; LAYERS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7968A0D-D467-4F1B-A113-379934D71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E63E8C71-D4B6-4BBF-87C2-22C930FE8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096963"/>
            <a:ext cx="3657600" cy="822325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63C8B002-9896-470C-8F24-AFF23D85C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162050"/>
            <a:ext cx="3382962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latin typeface="Georgia" panose="02040502050405020303" pitchFamily="18" charset="0"/>
              </a:rPr>
              <a:t>UI Layer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D3332B98-12F0-46EF-BBCB-760EC7394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36700"/>
            <a:ext cx="3382962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>
                <a:solidFill>
                  <a:srgbClr val="B8D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사용자 메뉴 및 콘솔 입출력</a:t>
            </a: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B5571B6D-EA01-43C5-92F4-9D63B6960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193925"/>
            <a:ext cx="3657600" cy="822325"/>
          </a:xfrm>
          <a:prstGeom prst="rect">
            <a:avLst/>
          </a:prstGeom>
          <a:solidFill>
            <a:srgbClr val="2D5A9E"/>
          </a:solidFill>
          <a:ln w="12600" cap="flat">
            <a:solidFill>
              <a:srgbClr val="2D5A9E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42843979-E836-4BB3-9F84-C5D6DAE7F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259013"/>
            <a:ext cx="3382962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latin typeface="Georgia" panose="02040502050405020303" pitchFamily="18" charset="0"/>
              </a:rPr>
              <a:t>Service Layer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5513DB99-2F47-4014-8332-0A4A58E2A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633663"/>
            <a:ext cx="3382962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>
                <a:solidFill>
                  <a:srgbClr val="B8D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원자성 처리 및 검증</a:t>
            </a:r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F2D3D398-1B63-4633-AA04-62FB126A8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292475"/>
            <a:ext cx="3657600" cy="822325"/>
          </a:xfrm>
          <a:prstGeom prst="rect">
            <a:avLst/>
          </a:prstGeom>
          <a:solidFill>
            <a:srgbClr val="3D74B8"/>
          </a:solidFill>
          <a:ln w="12600" cap="flat">
            <a:solidFill>
              <a:srgbClr val="3D74B8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0993BA9C-F55F-4380-8D22-88AF6FEC9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355975"/>
            <a:ext cx="3382962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latin typeface="Georgia" panose="02040502050405020303" pitchFamily="18" charset="0"/>
              </a:rPr>
              <a:t>Data Layer</a:t>
            </a: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7E27DCD2-AD11-4F0B-A73C-D2144EBA7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730625"/>
            <a:ext cx="3382962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100">
                <a:solidFill>
                  <a:srgbClr val="B8D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User, Account, Transaction </a:t>
            </a:r>
            <a:r>
              <a:rPr lang="zh-CN" altLang="ko-KR" sz="1100">
                <a:solidFill>
                  <a:srgbClr val="B8D4F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객체 관리</a:t>
            </a:r>
          </a:p>
        </p:txBody>
      </p:sp>
      <p:sp>
        <p:nvSpPr>
          <p:cNvPr id="18445" name="Line 13">
            <a:extLst>
              <a:ext uri="{FF2B5EF4-FFF2-40B4-BE49-F238E27FC236}">
                <a16:creationId xmlns:a16="http://schemas.microsoft.com/office/drawing/2014/main" id="{8DADAB8D-30C0-499D-99DC-12E797BCB6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1920875"/>
            <a:ext cx="1588" cy="274638"/>
          </a:xfrm>
          <a:prstGeom prst="line">
            <a:avLst/>
          </a:prstGeom>
          <a:noFill/>
          <a:ln w="25560" cap="flat">
            <a:solidFill>
              <a:srgbClr val="C9A84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46" name="Line 14">
            <a:extLst>
              <a:ext uri="{FF2B5EF4-FFF2-40B4-BE49-F238E27FC236}">
                <a16:creationId xmlns:a16="http://schemas.microsoft.com/office/drawing/2014/main" id="{64A21E6D-DBEE-4D1F-948D-3CDC68F70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3017838"/>
            <a:ext cx="1588" cy="274637"/>
          </a:xfrm>
          <a:prstGeom prst="line">
            <a:avLst/>
          </a:prstGeom>
          <a:noFill/>
          <a:ln w="25560" cap="flat">
            <a:solidFill>
              <a:srgbClr val="C9A84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614A55F9-2570-48E5-B4D9-9939165A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06475"/>
            <a:ext cx="4297363" cy="37480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8" name="Rectangle 16">
            <a:extLst>
              <a:ext uri="{FF2B5EF4-FFF2-40B4-BE49-F238E27FC236}">
                <a16:creationId xmlns:a16="http://schemas.microsoft.com/office/drawing/2014/main" id="{68567E29-BFFE-474A-ADD1-7C8091013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06475"/>
            <a:ext cx="4297363" cy="63500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D77F7CB4-76E7-4CCE-86BF-B4F142F26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1096963"/>
            <a:ext cx="40227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레이어드 아키텍처 설계</a:t>
            </a:r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33828F0C-F79B-417E-8375-6A0287EC6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1554163"/>
            <a:ext cx="39766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2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시스템은 </a:t>
            </a:r>
            <a:r>
              <a:rPr lang="en-US" altLang="ko-KR" sz="12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UI, </a:t>
            </a:r>
            <a:r>
              <a:rPr lang="zh-CN" altLang="ko-KR" sz="12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비즈니스 로직</a:t>
            </a:r>
            <a:r>
              <a:rPr lang="en-US" altLang="ko-KR" sz="12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2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 레이어로 분리되어</a:t>
            </a:r>
          </a:p>
          <a:p>
            <a:pPr hangingPunct="1">
              <a:lnSpc>
                <a:spcPct val="100000"/>
              </a:lnSpc>
            </a:pPr>
            <a:r>
              <a:rPr lang="zh-CN" altLang="ko-KR" sz="12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유지보수성을 극대화했습니다</a:t>
            </a:r>
            <a:r>
              <a:rPr lang="en-US" altLang="ko-KR" sz="12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sp>
        <p:nvSpPr>
          <p:cNvPr id="18451" name="AutoShape 19">
            <a:extLst>
              <a:ext uri="{FF2B5EF4-FFF2-40B4-BE49-F238E27FC236}">
                <a16:creationId xmlns:a16="http://schemas.microsoft.com/office/drawing/2014/main" id="{A99DA44D-8693-476A-85E5-3D0AE9D14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2378075"/>
            <a:ext cx="128587" cy="128588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CE6128AB-E6EF-40B4-8E78-F9388DDED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2339975"/>
            <a:ext cx="374808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UI Layer : </a:t>
            </a:r>
            <a:r>
              <a:rPr lang="zh-CN" altLang="ko-KR" sz="12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사용자 메뉴 및 콘솔 입출력</a:t>
            </a:r>
          </a:p>
        </p:txBody>
      </p:sp>
      <p:sp>
        <p:nvSpPr>
          <p:cNvPr id="18453" name="AutoShape 21">
            <a:extLst>
              <a:ext uri="{FF2B5EF4-FFF2-40B4-BE49-F238E27FC236}">
                <a16:creationId xmlns:a16="http://schemas.microsoft.com/office/drawing/2014/main" id="{F872C862-8016-44C8-86F9-AE96A48F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2852738"/>
            <a:ext cx="128587" cy="128587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74AD67A4-B113-4113-B51E-BA3424EFF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2816225"/>
            <a:ext cx="374808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Service Layer : </a:t>
            </a:r>
            <a:r>
              <a:rPr lang="zh-CN" altLang="ko-KR" sz="12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원자성 처리 및 검증</a:t>
            </a:r>
          </a:p>
        </p:txBody>
      </p:sp>
      <p:sp>
        <p:nvSpPr>
          <p:cNvPr id="18455" name="AutoShape 23">
            <a:extLst>
              <a:ext uri="{FF2B5EF4-FFF2-40B4-BE49-F238E27FC236}">
                <a16:creationId xmlns:a16="http://schemas.microsoft.com/office/drawing/2014/main" id="{74DBEC72-265F-4E89-8C66-A7E821927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3328988"/>
            <a:ext cx="128587" cy="128587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56" name="Rectangle 24">
            <a:extLst>
              <a:ext uri="{FF2B5EF4-FFF2-40B4-BE49-F238E27FC236}">
                <a16:creationId xmlns:a16="http://schemas.microsoft.com/office/drawing/2014/main" id="{73D60B24-49E5-4FFD-BA11-4AF25273F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3292475"/>
            <a:ext cx="374808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Data Layer : </a:t>
            </a:r>
            <a:r>
              <a:rPr lang="en-US" altLang="ko-KR" sz="12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User, Account, Transaction </a:t>
            </a:r>
            <a:r>
              <a:rPr lang="zh-CN" altLang="ko-KR" sz="12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객체 관리</a:t>
            </a:r>
          </a:p>
        </p:txBody>
      </p:sp>
      <p:sp>
        <p:nvSpPr>
          <p:cNvPr id="18457" name="Rectangle 25">
            <a:extLst>
              <a:ext uri="{FF2B5EF4-FFF2-40B4-BE49-F238E27FC236}">
                <a16:creationId xmlns:a16="http://schemas.microsoft.com/office/drawing/2014/main" id="{9CD6BE51-9F4F-42C7-B8E9-815432D6F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3913188"/>
            <a:ext cx="3976688" cy="17462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58" name="Rectangle 26">
            <a:extLst>
              <a:ext uri="{FF2B5EF4-FFF2-40B4-BE49-F238E27FC236}">
                <a16:creationId xmlns:a16="http://schemas.microsoft.com/office/drawing/2014/main" id="{167913C2-BE06-41A3-869F-C71E0A160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4041775"/>
            <a:ext cx="397668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관계 정의</a:t>
            </a:r>
            <a:r>
              <a:rPr lang="en-US" altLang="ko-KR" sz="11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사용자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(1) → </a:t>
            </a:r>
            <a:r>
              <a:rPr lang="zh-CN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(N) </a:t>
            </a:r>
            <a:r>
              <a:rPr lang="zh-CN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관계 및 관리자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(Admin) </a:t>
            </a:r>
            <a:r>
              <a:rPr lang="zh-CN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별도 분기 로직 적용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C73DFD7E-ABED-4CBD-A609-DE19BB5E7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21B1D75B-2D76-40FC-A82F-BD571E18A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MAIN MENU OPERATION FLOW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5AF6FF9-F87A-4B22-A7B7-86695E8E4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10B9FECC-C0C0-4220-B0F3-DAD85184C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332038"/>
            <a:ext cx="8229600" cy="36512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61" name="AutoShape 5">
            <a:extLst>
              <a:ext uri="{FF2B5EF4-FFF2-40B4-BE49-F238E27FC236}">
                <a16:creationId xmlns:a16="http://schemas.microsoft.com/office/drawing/2014/main" id="{24EA49DD-5C42-4674-82F6-176B41697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176463"/>
            <a:ext cx="319088" cy="319087"/>
          </a:xfrm>
          <a:custGeom>
            <a:avLst/>
            <a:gdLst>
              <a:gd name="G0" fmla="*/ 889 1 2"/>
              <a:gd name="G1" fmla="*/ 1 48365 11520"/>
              <a:gd name="G2" fmla="*/ G1 32767 1"/>
              <a:gd name="G3" fmla="*/ G2 1 32767"/>
              <a:gd name="G4" fmla="cos G0 G3"/>
              <a:gd name="G5" fmla="*/ 889 1 2"/>
              <a:gd name="G6" fmla="*/ 1 48365 11520"/>
              <a:gd name="G7" fmla="*/ G6 32767 1"/>
              <a:gd name="G8" fmla="*/ G7 1 32767"/>
              <a:gd name="G9" fmla="sin G5 G8"/>
              <a:gd name="G10" fmla="*/ 889 1 2"/>
              <a:gd name="G11" fmla="+- G10 0 G4"/>
              <a:gd name="G12" fmla="+- G10 G4 0"/>
              <a:gd name="G13" fmla="+- G12 0 0"/>
              <a:gd name="G14" fmla="*/ 889 1 2"/>
              <a:gd name="G15" fmla="+- G14 0 G9"/>
              <a:gd name="G16" fmla="+- G14 G9 0"/>
              <a:gd name="G17" fmla="+- G16 0 0"/>
              <a:gd name="G18" fmla="+- 889 0 0"/>
              <a:gd name="G19" fmla="+- 88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445"/>
                </a:moveTo>
                <a:lnTo>
                  <a:pt x="445" y="445"/>
                </a:lnTo>
                <a:lnTo>
                  <a:pt x="180" y="90"/>
                </a:lnTo>
                <a:lnTo>
                  <a:pt x="445" y="445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08FB1CF5-41C4-471D-B420-BED4ADE3F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06675"/>
            <a:ext cx="10969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시작</a:t>
            </a:r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AFC717C7-49AB-4065-8865-C36997994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2998788"/>
            <a:ext cx="1189037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프로그램 실행 및</a:t>
            </a:r>
          </a:p>
          <a:p>
            <a:pPr algn="ctr" hangingPunct="1">
              <a:lnSpc>
                <a:spcPct val="100000"/>
              </a:lnSpc>
            </a:pP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환경 설정</a:t>
            </a:r>
          </a:p>
        </p:txBody>
      </p:sp>
      <p:sp>
        <p:nvSpPr>
          <p:cNvPr id="19464" name="AutoShape 8">
            <a:extLst>
              <a:ext uri="{FF2B5EF4-FFF2-40B4-BE49-F238E27FC236}">
                <a16:creationId xmlns:a16="http://schemas.microsoft.com/office/drawing/2014/main" id="{40F51667-17E5-4A32-ACC7-9CA67142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176463"/>
            <a:ext cx="319088" cy="319087"/>
          </a:xfrm>
          <a:custGeom>
            <a:avLst/>
            <a:gdLst>
              <a:gd name="G0" fmla="*/ 889 1 2"/>
              <a:gd name="G1" fmla="*/ 1 48365 11520"/>
              <a:gd name="G2" fmla="*/ G1 32767 1"/>
              <a:gd name="G3" fmla="*/ G2 1 32767"/>
              <a:gd name="G4" fmla="cos G0 G3"/>
              <a:gd name="G5" fmla="*/ 889 1 2"/>
              <a:gd name="G6" fmla="*/ 1 48365 11520"/>
              <a:gd name="G7" fmla="*/ G6 32767 1"/>
              <a:gd name="G8" fmla="*/ G7 1 32767"/>
              <a:gd name="G9" fmla="sin G5 G8"/>
              <a:gd name="G10" fmla="*/ 889 1 2"/>
              <a:gd name="G11" fmla="+- G10 0 G4"/>
              <a:gd name="G12" fmla="+- G10 G4 0"/>
              <a:gd name="G13" fmla="+- G12 0 0"/>
              <a:gd name="G14" fmla="*/ 889 1 2"/>
              <a:gd name="G15" fmla="+- G14 0 G9"/>
              <a:gd name="G16" fmla="+- G14 G9 0"/>
              <a:gd name="G17" fmla="+- G16 0 0"/>
              <a:gd name="G18" fmla="+- 889 0 0"/>
              <a:gd name="G19" fmla="+- 88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445"/>
                </a:moveTo>
                <a:lnTo>
                  <a:pt x="445" y="445"/>
                </a:lnTo>
                <a:lnTo>
                  <a:pt x="180" y="90"/>
                </a:lnTo>
                <a:lnTo>
                  <a:pt x="445" y="445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65" name="Rectangle 9">
            <a:extLst>
              <a:ext uri="{FF2B5EF4-FFF2-40B4-BE49-F238E27FC236}">
                <a16:creationId xmlns:a16="http://schemas.microsoft.com/office/drawing/2014/main" id="{EECFCC3D-B112-4F49-B6E0-6F127854E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2606675"/>
            <a:ext cx="109696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메인메뉴</a:t>
            </a:r>
          </a:p>
        </p:txBody>
      </p:sp>
      <p:sp>
        <p:nvSpPr>
          <p:cNvPr id="19466" name="Rectangle 10">
            <a:extLst>
              <a:ext uri="{FF2B5EF4-FFF2-40B4-BE49-F238E27FC236}">
                <a16:creationId xmlns:a16="http://schemas.microsoft.com/office/drawing/2014/main" id="{64387C10-58E4-414A-9166-5BDC5A308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2998788"/>
            <a:ext cx="1189038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로그인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종료</a:t>
            </a:r>
          </a:p>
          <a:p>
            <a:pPr algn="ctr" hangingPunct="1">
              <a:lnSpc>
                <a:spcPct val="100000"/>
              </a:lnSpc>
            </a:pP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 분기</a:t>
            </a:r>
          </a:p>
        </p:txBody>
      </p:sp>
      <p:sp>
        <p:nvSpPr>
          <p:cNvPr id="19467" name="AutoShape 11">
            <a:extLst>
              <a:ext uri="{FF2B5EF4-FFF2-40B4-BE49-F238E27FC236}">
                <a16:creationId xmlns:a16="http://schemas.microsoft.com/office/drawing/2014/main" id="{FE419B8A-2FD1-422D-B63F-BF6A34AFF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2176463"/>
            <a:ext cx="319087" cy="319087"/>
          </a:xfrm>
          <a:custGeom>
            <a:avLst/>
            <a:gdLst>
              <a:gd name="G0" fmla="*/ 889 1 2"/>
              <a:gd name="G1" fmla="*/ 1 48365 11520"/>
              <a:gd name="G2" fmla="*/ G1 32767 1"/>
              <a:gd name="G3" fmla="*/ G2 1 32767"/>
              <a:gd name="G4" fmla="cos G0 G3"/>
              <a:gd name="G5" fmla="*/ 889 1 2"/>
              <a:gd name="G6" fmla="*/ 1 48365 11520"/>
              <a:gd name="G7" fmla="*/ G6 32767 1"/>
              <a:gd name="G8" fmla="*/ G7 1 32767"/>
              <a:gd name="G9" fmla="sin G5 G8"/>
              <a:gd name="G10" fmla="*/ 889 1 2"/>
              <a:gd name="G11" fmla="+- G10 0 G4"/>
              <a:gd name="G12" fmla="+- G10 G4 0"/>
              <a:gd name="G13" fmla="+- G12 0 0"/>
              <a:gd name="G14" fmla="*/ 889 1 2"/>
              <a:gd name="G15" fmla="+- G14 0 G9"/>
              <a:gd name="G16" fmla="+- G14 G9 0"/>
              <a:gd name="G17" fmla="+- G16 0 0"/>
              <a:gd name="G18" fmla="+- 889 0 0"/>
              <a:gd name="G19" fmla="+- 88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445"/>
                </a:moveTo>
                <a:lnTo>
                  <a:pt x="445" y="445"/>
                </a:lnTo>
                <a:lnTo>
                  <a:pt x="180" y="90"/>
                </a:lnTo>
                <a:lnTo>
                  <a:pt x="445" y="445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68" name="Rectangle 12">
            <a:extLst>
              <a:ext uri="{FF2B5EF4-FFF2-40B4-BE49-F238E27FC236}">
                <a16:creationId xmlns:a16="http://schemas.microsoft.com/office/drawing/2014/main" id="{7221C525-9E02-457D-BD0B-AD03A7C56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2606675"/>
            <a:ext cx="10969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인증 프로세스</a:t>
            </a:r>
          </a:p>
        </p:txBody>
      </p:sp>
      <p:sp>
        <p:nvSpPr>
          <p:cNvPr id="19469" name="Rectangle 13">
            <a:extLst>
              <a:ext uri="{FF2B5EF4-FFF2-40B4-BE49-F238E27FC236}">
                <a16:creationId xmlns:a16="http://schemas.microsoft.com/office/drawing/2014/main" id="{A4BD3488-F5B1-4259-B4B9-2AC558C88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2998788"/>
            <a:ext cx="1189038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사용자 정보 검증 및</a:t>
            </a:r>
          </a:p>
          <a:p>
            <a:pPr algn="ctr" hangingPunct="1">
              <a:lnSpc>
                <a:spcPct val="100000"/>
              </a:lnSpc>
            </a:pP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로그인 성공 시 진입</a:t>
            </a:r>
          </a:p>
        </p:txBody>
      </p:sp>
      <p:sp>
        <p:nvSpPr>
          <p:cNvPr id="19470" name="AutoShape 14">
            <a:extLst>
              <a:ext uri="{FF2B5EF4-FFF2-40B4-BE49-F238E27FC236}">
                <a16:creationId xmlns:a16="http://schemas.microsoft.com/office/drawing/2014/main" id="{3C9C2B5F-0725-4D22-AB29-504959BAB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176463"/>
            <a:ext cx="319088" cy="319087"/>
          </a:xfrm>
          <a:custGeom>
            <a:avLst/>
            <a:gdLst>
              <a:gd name="G0" fmla="*/ 889 1 2"/>
              <a:gd name="G1" fmla="*/ 1 48365 11520"/>
              <a:gd name="G2" fmla="*/ G1 32767 1"/>
              <a:gd name="G3" fmla="*/ G2 1 32767"/>
              <a:gd name="G4" fmla="cos G0 G3"/>
              <a:gd name="G5" fmla="*/ 889 1 2"/>
              <a:gd name="G6" fmla="*/ 1 48365 11520"/>
              <a:gd name="G7" fmla="*/ G6 32767 1"/>
              <a:gd name="G8" fmla="*/ G7 1 32767"/>
              <a:gd name="G9" fmla="sin G5 G8"/>
              <a:gd name="G10" fmla="*/ 889 1 2"/>
              <a:gd name="G11" fmla="+- G10 0 G4"/>
              <a:gd name="G12" fmla="+- G10 G4 0"/>
              <a:gd name="G13" fmla="+- G12 0 0"/>
              <a:gd name="G14" fmla="*/ 889 1 2"/>
              <a:gd name="G15" fmla="+- G14 0 G9"/>
              <a:gd name="G16" fmla="+- G14 G9 0"/>
              <a:gd name="G17" fmla="+- G16 0 0"/>
              <a:gd name="G18" fmla="+- 889 0 0"/>
              <a:gd name="G19" fmla="+- 88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445"/>
                </a:moveTo>
                <a:lnTo>
                  <a:pt x="445" y="445"/>
                </a:lnTo>
                <a:lnTo>
                  <a:pt x="180" y="90"/>
                </a:lnTo>
                <a:lnTo>
                  <a:pt x="445" y="445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471" name="Rectangle 15">
            <a:extLst>
              <a:ext uri="{FF2B5EF4-FFF2-40B4-BE49-F238E27FC236}">
                <a16:creationId xmlns:a16="http://schemas.microsoft.com/office/drawing/2014/main" id="{9FAAFBE0-D171-4D63-AFE5-8E30EF2A8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2606675"/>
            <a:ext cx="10969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은행 메뉴</a:t>
            </a:r>
          </a:p>
        </p:txBody>
      </p:sp>
      <p:sp>
        <p:nvSpPr>
          <p:cNvPr id="19472" name="Rectangle 16">
            <a:extLst>
              <a:ext uri="{FF2B5EF4-FFF2-40B4-BE49-F238E27FC236}">
                <a16:creationId xmlns:a16="http://schemas.microsoft.com/office/drawing/2014/main" id="{C007DCEB-4B87-4CFC-9698-02C1BA785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838" y="2998788"/>
            <a:ext cx="1189037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성공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서비스 이용</a:t>
            </a:r>
          </a:p>
          <a:p>
            <a:pPr algn="ctr" hangingPunct="1">
              <a:lnSpc>
                <a:spcPct val="100000"/>
              </a:lnSpc>
            </a:pP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실패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재시도 안내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736891C-67B5-43D6-821C-4909CDFE2535}"/>
              </a:ext>
            </a:extLst>
          </p:cNvPr>
          <p:cNvSpPr/>
          <p:nvPr/>
        </p:nvSpPr>
        <p:spPr bwMode="auto">
          <a:xfrm>
            <a:off x="687387" y="2031182"/>
            <a:ext cx="638176" cy="601712"/>
          </a:xfrm>
          <a:prstGeom prst="ellipse">
            <a:avLst/>
          </a:prstGeom>
          <a:solidFill>
            <a:srgbClr val="C7C03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6286F1A-1064-41D6-947E-246FD3340ECA}"/>
              </a:ext>
            </a:extLst>
          </p:cNvPr>
          <p:cNvSpPr/>
          <p:nvPr/>
        </p:nvSpPr>
        <p:spPr bwMode="auto">
          <a:xfrm>
            <a:off x="2691116" y="2031182"/>
            <a:ext cx="638176" cy="601712"/>
          </a:xfrm>
          <a:prstGeom prst="ellipse">
            <a:avLst/>
          </a:prstGeom>
          <a:solidFill>
            <a:srgbClr val="C7C03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425BF68-99D7-4F7F-BAA6-5D0AFF6895F7}"/>
              </a:ext>
            </a:extLst>
          </p:cNvPr>
          <p:cNvSpPr/>
          <p:nvPr/>
        </p:nvSpPr>
        <p:spPr bwMode="auto">
          <a:xfrm>
            <a:off x="4701905" y="2031182"/>
            <a:ext cx="638176" cy="601712"/>
          </a:xfrm>
          <a:prstGeom prst="ellipse">
            <a:avLst/>
          </a:prstGeom>
          <a:solidFill>
            <a:srgbClr val="C7C03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306A8DC-08C2-4DAF-B6C4-06E4B4B862D1}"/>
              </a:ext>
            </a:extLst>
          </p:cNvPr>
          <p:cNvSpPr/>
          <p:nvPr/>
        </p:nvSpPr>
        <p:spPr bwMode="auto">
          <a:xfrm>
            <a:off x="6813719" y="2031182"/>
            <a:ext cx="638176" cy="601712"/>
          </a:xfrm>
          <a:prstGeom prst="ellipse">
            <a:avLst/>
          </a:prstGeom>
          <a:solidFill>
            <a:srgbClr val="C7C03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9" name="Rectangle 39">
            <a:extLst>
              <a:ext uri="{FF2B5EF4-FFF2-40B4-BE49-F238E27FC236}">
                <a16:creationId xmlns:a16="http://schemas.microsoft.com/office/drawing/2014/main" id="{BB105855-18E0-47A8-942D-5B361ED8F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2879725"/>
            <a:ext cx="1992313" cy="1690688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7583D4E-EB6A-4603-BBEC-7882365B67BD}"/>
              </a:ext>
            </a:extLst>
          </p:cNvPr>
          <p:cNvSpPr/>
          <p:nvPr/>
        </p:nvSpPr>
        <p:spPr bwMode="auto">
          <a:xfrm>
            <a:off x="7440665" y="3111152"/>
            <a:ext cx="677962" cy="686148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tabLst/>
            </a:pPr>
            <a:endParaRPr kumimoji="0" lang="ko-K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0481" name="Rectangle 1">
            <a:extLst>
              <a:ext uri="{FF2B5EF4-FFF2-40B4-BE49-F238E27FC236}">
                <a16:creationId xmlns:a16="http://schemas.microsoft.com/office/drawing/2014/main" id="{E27406CD-B289-43E8-ACD5-13BCE2A95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67533BC-2176-417A-A03F-9B64B0ADB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BANKING SERVICE MENU INTERFACE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09C016F-0BBE-445D-8854-5096B57D9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A29B7F39-BBB6-4EB1-B6B3-61C23278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960438"/>
            <a:ext cx="1992312" cy="1690687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19C5BB2C-A6B4-4731-B774-9AA1D2E1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2587625"/>
            <a:ext cx="1992312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6" name="AutoShape 6">
            <a:extLst>
              <a:ext uri="{FF2B5EF4-FFF2-40B4-BE49-F238E27FC236}">
                <a16:creationId xmlns:a16="http://schemas.microsoft.com/office/drawing/2014/main" id="{BE3B5508-15B3-41B5-94FD-990B79C18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1162050"/>
            <a:ext cx="693738" cy="693738"/>
          </a:xfrm>
          <a:custGeom>
            <a:avLst/>
            <a:gdLst>
              <a:gd name="G0" fmla="*/ 1930 1 2"/>
              <a:gd name="G1" fmla="*/ 1 48365 11520"/>
              <a:gd name="G2" fmla="*/ G1 32767 1"/>
              <a:gd name="G3" fmla="*/ G2 1 32767"/>
              <a:gd name="G4" fmla="cos G0 G3"/>
              <a:gd name="G5" fmla="*/ 1930 1 2"/>
              <a:gd name="G6" fmla="*/ 1 48365 11520"/>
              <a:gd name="G7" fmla="*/ G6 32767 1"/>
              <a:gd name="G8" fmla="*/ G7 1 32767"/>
              <a:gd name="G9" fmla="sin G5 G8"/>
              <a:gd name="G10" fmla="*/ 1930 1 2"/>
              <a:gd name="G11" fmla="+- G10 0 G4"/>
              <a:gd name="G12" fmla="+- G10 G4 0"/>
              <a:gd name="G13" fmla="+- G12 0 0"/>
              <a:gd name="G14" fmla="*/ 1930 1 2"/>
              <a:gd name="G15" fmla="+- G14 0 G9"/>
              <a:gd name="G16" fmla="+- G14 G9 0"/>
              <a:gd name="G17" fmla="+- G16 0 0"/>
              <a:gd name="G18" fmla="+- 1930 0 0"/>
              <a:gd name="G19" fmla="+- 193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65"/>
                </a:moveTo>
                <a:lnTo>
                  <a:pt x="965" y="965"/>
                </a:lnTo>
                <a:lnTo>
                  <a:pt x="180" y="90"/>
                </a:lnTo>
                <a:lnTo>
                  <a:pt x="965" y="965"/>
                </a:lnTo>
                <a:lnTo>
                  <a:pt x="270" y="90"/>
                </a:lnTo>
                <a:close/>
              </a:path>
            </a:pathLst>
          </a:cu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00643012-0D1E-42B7-BFE9-8696D08C8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1162050"/>
            <a:ext cx="693738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A7004A04-33AA-4D04-97F5-899F67972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2011363"/>
            <a:ext cx="18097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계좌생성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4F5F9117-E343-4F69-9797-50CA07187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960438"/>
            <a:ext cx="1992313" cy="1690687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C8FB3585-50D8-4B89-BBC8-FA44757D3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2587625"/>
            <a:ext cx="1992313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91" name="AutoShape 11">
            <a:extLst>
              <a:ext uri="{FF2B5EF4-FFF2-40B4-BE49-F238E27FC236}">
                <a16:creationId xmlns:a16="http://schemas.microsoft.com/office/drawing/2014/main" id="{6791DD91-CCF2-4155-B54A-BF73E8176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1162050"/>
            <a:ext cx="693737" cy="693738"/>
          </a:xfrm>
          <a:custGeom>
            <a:avLst/>
            <a:gdLst>
              <a:gd name="G0" fmla="*/ 1930 1 2"/>
              <a:gd name="G1" fmla="*/ 1 48365 11520"/>
              <a:gd name="G2" fmla="*/ G1 32767 1"/>
              <a:gd name="G3" fmla="*/ G2 1 32767"/>
              <a:gd name="G4" fmla="cos G0 G3"/>
              <a:gd name="G5" fmla="*/ 1930 1 2"/>
              <a:gd name="G6" fmla="*/ 1 48365 11520"/>
              <a:gd name="G7" fmla="*/ G6 32767 1"/>
              <a:gd name="G8" fmla="*/ G7 1 32767"/>
              <a:gd name="G9" fmla="sin G5 G8"/>
              <a:gd name="G10" fmla="*/ 1930 1 2"/>
              <a:gd name="G11" fmla="+- G10 0 G4"/>
              <a:gd name="G12" fmla="+- G10 G4 0"/>
              <a:gd name="G13" fmla="+- G12 0 0"/>
              <a:gd name="G14" fmla="*/ 1930 1 2"/>
              <a:gd name="G15" fmla="+- G14 0 G9"/>
              <a:gd name="G16" fmla="+- G14 G9 0"/>
              <a:gd name="G17" fmla="+- G16 0 0"/>
              <a:gd name="G18" fmla="+- 1930 0 0"/>
              <a:gd name="G19" fmla="+- 193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65"/>
                </a:moveTo>
                <a:lnTo>
                  <a:pt x="965" y="965"/>
                </a:lnTo>
                <a:lnTo>
                  <a:pt x="180" y="90"/>
                </a:lnTo>
                <a:lnTo>
                  <a:pt x="965" y="965"/>
                </a:lnTo>
                <a:lnTo>
                  <a:pt x="270" y="90"/>
                </a:lnTo>
                <a:close/>
              </a:path>
            </a:pathLst>
          </a:cu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92" name="Rectangle 12">
            <a:extLst>
              <a:ext uri="{FF2B5EF4-FFF2-40B4-BE49-F238E27FC236}">
                <a16:creationId xmlns:a16="http://schemas.microsoft.com/office/drawing/2014/main" id="{00BD6CB9-8B33-4B89-A8A4-AE7C69880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1162050"/>
            <a:ext cx="693737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</a:t>
            </a:r>
          </a:p>
        </p:txBody>
      </p: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46FBD1C4-1B18-4541-93D3-474E861CC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2011363"/>
            <a:ext cx="18097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계좌조회</a:t>
            </a:r>
          </a:p>
        </p:txBody>
      </p:sp>
      <p:sp>
        <p:nvSpPr>
          <p:cNvPr id="20494" name="Rectangle 14">
            <a:extLst>
              <a:ext uri="{FF2B5EF4-FFF2-40B4-BE49-F238E27FC236}">
                <a16:creationId xmlns:a16="http://schemas.microsoft.com/office/drawing/2014/main" id="{5A93075E-E9F4-4EED-A0A1-88690E1F2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960438"/>
            <a:ext cx="1992312" cy="1690687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95" name="Rectangle 15">
            <a:extLst>
              <a:ext uri="{FF2B5EF4-FFF2-40B4-BE49-F238E27FC236}">
                <a16:creationId xmlns:a16="http://schemas.microsoft.com/office/drawing/2014/main" id="{EAEABB7D-308C-48C6-80A5-F7130041C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587625"/>
            <a:ext cx="1992312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96" name="AutoShape 16">
            <a:extLst>
              <a:ext uri="{FF2B5EF4-FFF2-40B4-BE49-F238E27FC236}">
                <a16:creationId xmlns:a16="http://schemas.microsoft.com/office/drawing/2014/main" id="{BA2EB1FB-49D1-44E7-9793-9C870F5C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162050"/>
            <a:ext cx="693738" cy="693738"/>
          </a:xfrm>
          <a:custGeom>
            <a:avLst/>
            <a:gdLst>
              <a:gd name="G0" fmla="*/ 1930 1 2"/>
              <a:gd name="G1" fmla="*/ 1 48365 11520"/>
              <a:gd name="G2" fmla="*/ G1 32767 1"/>
              <a:gd name="G3" fmla="*/ G2 1 32767"/>
              <a:gd name="G4" fmla="cos G0 G3"/>
              <a:gd name="G5" fmla="*/ 1930 1 2"/>
              <a:gd name="G6" fmla="*/ 1 48365 11520"/>
              <a:gd name="G7" fmla="*/ G6 32767 1"/>
              <a:gd name="G8" fmla="*/ G7 1 32767"/>
              <a:gd name="G9" fmla="sin G5 G8"/>
              <a:gd name="G10" fmla="*/ 1930 1 2"/>
              <a:gd name="G11" fmla="+- G10 0 G4"/>
              <a:gd name="G12" fmla="+- G10 G4 0"/>
              <a:gd name="G13" fmla="+- G12 0 0"/>
              <a:gd name="G14" fmla="*/ 1930 1 2"/>
              <a:gd name="G15" fmla="+- G14 0 G9"/>
              <a:gd name="G16" fmla="+- G14 G9 0"/>
              <a:gd name="G17" fmla="+- G16 0 0"/>
              <a:gd name="G18" fmla="+- 1930 0 0"/>
              <a:gd name="G19" fmla="+- 193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65"/>
                </a:moveTo>
                <a:lnTo>
                  <a:pt x="965" y="965"/>
                </a:lnTo>
                <a:lnTo>
                  <a:pt x="180" y="90"/>
                </a:lnTo>
                <a:lnTo>
                  <a:pt x="965" y="965"/>
                </a:lnTo>
                <a:lnTo>
                  <a:pt x="270" y="90"/>
                </a:lnTo>
                <a:close/>
              </a:path>
            </a:pathLst>
          </a:cu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497" name="Rectangle 17">
            <a:extLst>
              <a:ext uri="{FF2B5EF4-FFF2-40B4-BE49-F238E27FC236}">
                <a16:creationId xmlns:a16="http://schemas.microsoft.com/office/drawing/2014/main" id="{3D48F699-0AF7-4A16-A5BD-397735874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162050"/>
            <a:ext cx="693738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③</a:t>
            </a:r>
          </a:p>
        </p:txBody>
      </p:sp>
      <p:sp>
        <p:nvSpPr>
          <p:cNvPr id="20498" name="Rectangle 18">
            <a:extLst>
              <a:ext uri="{FF2B5EF4-FFF2-40B4-BE49-F238E27FC236}">
                <a16:creationId xmlns:a16="http://schemas.microsoft.com/office/drawing/2014/main" id="{82942CC9-F514-4997-9D56-27CFDECDD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2011363"/>
            <a:ext cx="18097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입금</a:t>
            </a:r>
          </a:p>
        </p:txBody>
      </p:sp>
      <p:sp>
        <p:nvSpPr>
          <p:cNvPr id="20499" name="Rectangle 19">
            <a:extLst>
              <a:ext uri="{FF2B5EF4-FFF2-40B4-BE49-F238E27FC236}">
                <a16:creationId xmlns:a16="http://schemas.microsoft.com/office/drawing/2014/main" id="{4F03C695-611F-4BDC-950E-0FFA6BD3D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960438"/>
            <a:ext cx="1992313" cy="1690687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00" name="Rectangle 20">
            <a:extLst>
              <a:ext uri="{FF2B5EF4-FFF2-40B4-BE49-F238E27FC236}">
                <a16:creationId xmlns:a16="http://schemas.microsoft.com/office/drawing/2014/main" id="{CD957AAC-9963-46C2-A402-C39B508BA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2587625"/>
            <a:ext cx="1992313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01" name="AutoShape 21">
            <a:extLst>
              <a:ext uri="{FF2B5EF4-FFF2-40B4-BE49-F238E27FC236}">
                <a16:creationId xmlns:a16="http://schemas.microsoft.com/office/drawing/2014/main" id="{45F8BD6F-98C4-4D5C-AFE5-2BFF355B6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263" y="1162050"/>
            <a:ext cx="693737" cy="693738"/>
          </a:xfrm>
          <a:custGeom>
            <a:avLst/>
            <a:gdLst>
              <a:gd name="G0" fmla="*/ 1930 1 2"/>
              <a:gd name="G1" fmla="*/ 1 48365 11520"/>
              <a:gd name="G2" fmla="*/ G1 32767 1"/>
              <a:gd name="G3" fmla="*/ G2 1 32767"/>
              <a:gd name="G4" fmla="cos G0 G3"/>
              <a:gd name="G5" fmla="*/ 1930 1 2"/>
              <a:gd name="G6" fmla="*/ 1 48365 11520"/>
              <a:gd name="G7" fmla="*/ G6 32767 1"/>
              <a:gd name="G8" fmla="*/ G7 1 32767"/>
              <a:gd name="G9" fmla="sin G5 G8"/>
              <a:gd name="G10" fmla="*/ 1930 1 2"/>
              <a:gd name="G11" fmla="+- G10 0 G4"/>
              <a:gd name="G12" fmla="+- G10 G4 0"/>
              <a:gd name="G13" fmla="+- G12 0 0"/>
              <a:gd name="G14" fmla="*/ 1930 1 2"/>
              <a:gd name="G15" fmla="+- G14 0 G9"/>
              <a:gd name="G16" fmla="+- G14 G9 0"/>
              <a:gd name="G17" fmla="+- G16 0 0"/>
              <a:gd name="G18" fmla="+- 1930 0 0"/>
              <a:gd name="G19" fmla="+- 193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65"/>
                </a:moveTo>
                <a:lnTo>
                  <a:pt x="965" y="965"/>
                </a:lnTo>
                <a:lnTo>
                  <a:pt x="180" y="90"/>
                </a:lnTo>
                <a:lnTo>
                  <a:pt x="965" y="965"/>
                </a:lnTo>
                <a:lnTo>
                  <a:pt x="270" y="90"/>
                </a:lnTo>
                <a:close/>
              </a:path>
            </a:pathLst>
          </a:cu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02" name="Rectangle 22">
            <a:extLst>
              <a:ext uri="{FF2B5EF4-FFF2-40B4-BE49-F238E27FC236}">
                <a16:creationId xmlns:a16="http://schemas.microsoft.com/office/drawing/2014/main" id="{F174280A-6DCD-46F8-8C7B-E066C4B55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263" y="1162050"/>
            <a:ext cx="693737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④</a:t>
            </a:r>
          </a:p>
        </p:txBody>
      </p:sp>
      <p:sp>
        <p:nvSpPr>
          <p:cNvPr id="20503" name="Rectangle 23">
            <a:extLst>
              <a:ext uri="{FF2B5EF4-FFF2-40B4-BE49-F238E27FC236}">
                <a16:creationId xmlns:a16="http://schemas.microsoft.com/office/drawing/2014/main" id="{70E1E150-6A85-4590-B18D-FDAE2DB4B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011363"/>
            <a:ext cx="18097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출금</a:t>
            </a:r>
          </a:p>
        </p:txBody>
      </p:sp>
      <p:sp>
        <p:nvSpPr>
          <p:cNvPr id="20504" name="Rectangle 24">
            <a:extLst>
              <a:ext uri="{FF2B5EF4-FFF2-40B4-BE49-F238E27FC236}">
                <a16:creationId xmlns:a16="http://schemas.microsoft.com/office/drawing/2014/main" id="{09D21631-4F05-452D-BBCD-5E87A9881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2879725"/>
            <a:ext cx="1992312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05" name="Rectangle 25">
            <a:extLst>
              <a:ext uri="{FF2B5EF4-FFF2-40B4-BE49-F238E27FC236}">
                <a16:creationId xmlns:a16="http://schemas.microsoft.com/office/drawing/2014/main" id="{A83A437B-FAA8-4E07-A64F-03F8AA9A7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4508500"/>
            <a:ext cx="1992312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06" name="AutoShape 26">
            <a:extLst>
              <a:ext uri="{FF2B5EF4-FFF2-40B4-BE49-F238E27FC236}">
                <a16:creationId xmlns:a16="http://schemas.microsoft.com/office/drawing/2014/main" id="{ACF97461-6CEA-4134-90CE-38998714D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3081338"/>
            <a:ext cx="693738" cy="693737"/>
          </a:xfrm>
          <a:custGeom>
            <a:avLst/>
            <a:gdLst>
              <a:gd name="G0" fmla="*/ 1930 1 2"/>
              <a:gd name="G1" fmla="*/ 1 48365 11520"/>
              <a:gd name="G2" fmla="*/ G1 32767 1"/>
              <a:gd name="G3" fmla="*/ G2 1 32767"/>
              <a:gd name="G4" fmla="cos G0 G3"/>
              <a:gd name="G5" fmla="*/ 1930 1 2"/>
              <a:gd name="G6" fmla="*/ 1 48365 11520"/>
              <a:gd name="G7" fmla="*/ G6 32767 1"/>
              <a:gd name="G8" fmla="*/ G7 1 32767"/>
              <a:gd name="G9" fmla="sin G5 G8"/>
              <a:gd name="G10" fmla="*/ 1930 1 2"/>
              <a:gd name="G11" fmla="+- G10 0 G4"/>
              <a:gd name="G12" fmla="+- G10 G4 0"/>
              <a:gd name="G13" fmla="+- G12 0 0"/>
              <a:gd name="G14" fmla="*/ 1930 1 2"/>
              <a:gd name="G15" fmla="+- G14 0 G9"/>
              <a:gd name="G16" fmla="+- G14 G9 0"/>
              <a:gd name="G17" fmla="+- G16 0 0"/>
              <a:gd name="G18" fmla="+- 1930 0 0"/>
              <a:gd name="G19" fmla="+- 193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65"/>
                </a:moveTo>
                <a:lnTo>
                  <a:pt x="965" y="965"/>
                </a:lnTo>
                <a:lnTo>
                  <a:pt x="180" y="90"/>
                </a:lnTo>
                <a:lnTo>
                  <a:pt x="965" y="965"/>
                </a:lnTo>
                <a:lnTo>
                  <a:pt x="270" y="90"/>
                </a:lnTo>
                <a:close/>
              </a:path>
            </a:pathLst>
          </a:cu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07" name="Rectangle 27">
            <a:extLst>
              <a:ext uri="{FF2B5EF4-FFF2-40B4-BE49-F238E27FC236}">
                <a16:creationId xmlns:a16="http://schemas.microsoft.com/office/drawing/2014/main" id="{5AE5E57E-3F5A-43BD-9AFF-003223BB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3081338"/>
            <a:ext cx="693738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⑤</a:t>
            </a:r>
          </a:p>
        </p:txBody>
      </p:sp>
      <p:sp>
        <p:nvSpPr>
          <p:cNvPr id="20508" name="Rectangle 28">
            <a:extLst>
              <a:ext uri="{FF2B5EF4-FFF2-40B4-BE49-F238E27FC236}">
                <a16:creationId xmlns:a16="http://schemas.microsoft.com/office/drawing/2014/main" id="{745C5375-FC3C-4352-9EA9-BE83E7A18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3932238"/>
            <a:ext cx="18097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계좌이체</a:t>
            </a:r>
          </a:p>
        </p:txBody>
      </p:sp>
      <p:sp>
        <p:nvSpPr>
          <p:cNvPr id="20509" name="Rectangle 29">
            <a:extLst>
              <a:ext uri="{FF2B5EF4-FFF2-40B4-BE49-F238E27FC236}">
                <a16:creationId xmlns:a16="http://schemas.microsoft.com/office/drawing/2014/main" id="{5F86CC8D-55EF-4A25-A211-BBA9598B8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2879725"/>
            <a:ext cx="1992313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0" name="Rectangle 30">
            <a:extLst>
              <a:ext uri="{FF2B5EF4-FFF2-40B4-BE49-F238E27FC236}">
                <a16:creationId xmlns:a16="http://schemas.microsoft.com/office/drawing/2014/main" id="{EA0DA261-461A-4F28-8CF4-DB07213C6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4508500"/>
            <a:ext cx="1992313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1" name="AutoShape 31">
            <a:extLst>
              <a:ext uri="{FF2B5EF4-FFF2-40B4-BE49-F238E27FC236}">
                <a16:creationId xmlns:a16="http://schemas.microsoft.com/office/drawing/2014/main" id="{20D2771D-C165-4657-87F9-5939E3584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3081338"/>
            <a:ext cx="693737" cy="693737"/>
          </a:xfrm>
          <a:custGeom>
            <a:avLst/>
            <a:gdLst>
              <a:gd name="G0" fmla="*/ 1930 1 2"/>
              <a:gd name="G1" fmla="*/ 1 48365 11520"/>
              <a:gd name="G2" fmla="*/ G1 32767 1"/>
              <a:gd name="G3" fmla="*/ G2 1 32767"/>
              <a:gd name="G4" fmla="cos G0 G3"/>
              <a:gd name="G5" fmla="*/ 1930 1 2"/>
              <a:gd name="G6" fmla="*/ 1 48365 11520"/>
              <a:gd name="G7" fmla="*/ G6 32767 1"/>
              <a:gd name="G8" fmla="*/ G7 1 32767"/>
              <a:gd name="G9" fmla="sin G5 G8"/>
              <a:gd name="G10" fmla="*/ 1930 1 2"/>
              <a:gd name="G11" fmla="+- G10 0 G4"/>
              <a:gd name="G12" fmla="+- G10 G4 0"/>
              <a:gd name="G13" fmla="+- G12 0 0"/>
              <a:gd name="G14" fmla="*/ 1930 1 2"/>
              <a:gd name="G15" fmla="+- G14 0 G9"/>
              <a:gd name="G16" fmla="+- G14 G9 0"/>
              <a:gd name="G17" fmla="+- G16 0 0"/>
              <a:gd name="G18" fmla="+- 1930 0 0"/>
              <a:gd name="G19" fmla="+- 193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65"/>
                </a:moveTo>
                <a:lnTo>
                  <a:pt x="965" y="965"/>
                </a:lnTo>
                <a:lnTo>
                  <a:pt x="180" y="90"/>
                </a:lnTo>
                <a:lnTo>
                  <a:pt x="965" y="965"/>
                </a:lnTo>
                <a:lnTo>
                  <a:pt x="270" y="90"/>
                </a:lnTo>
                <a:close/>
              </a:path>
            </a:pathLst>
          </a:cu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2" name="Rectangle 32">
            <a:extLst>
              <a:ext uri="{FF2B5EF4-FFF2-40B4-BE49-F238E27FC236}">
                <a16:creationId xmlns:a16="http://schemas.microsoft.com/office/drawing/2014/main" id="{FD3BDCC9-9020-4DBB-8CF8-45695C3F1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3081338"/>
            <a:ext cx="693737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⑥</a:t>
            </a:r>
          </a:p>
        </p:txBody>
      </p:sp>
      <p:sp>
        <p:nvSpPr>
          <p:cNvPr id="20513" name="Rectangle 33">
            <a:extLst>
              <a:ext uri="{FF2B5EF4-FFF2-40B4-BE49-F238E27FC236}">
                <a16:creationId xmlns:a16="http://schemas.microsoft.com/office/drawing/2014/main" id="{1FDBA891-31C0-45A3-A51C-717307321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932238"/>
            <a:ext cx="18097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거래내역</a:t>
            </a:r>
          </a:p>
        </p:txBody>
      </p:sp>
      <p:sp>
        <p:nvSpPr>
          <p:cNvPr id="20514" name="Rectangle 34">
            <a:extLst>
              <a:ext uri="{FF2B5EF4-FFF2-40B4-BE49-F238E27FC236}">
                <a16:creationId xmlns:a16="http://schemas.microsoft.com/office/drawing/2014/main" id="{96BB4D3B-0C4B-42B8-B122-3E956B058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879725"/>
            <a:ext cx="1992312" cy="16906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5" name="Rectangle 35">
            <a:extLst>
              <a:ext uri="{FF2B5EF4-FFF2-40B4-BE49-F238E27FC236}">
                <a16:creationId xmlns:a16="http://schemas.microsoft.com/office/drawing/2014/main" id="{C1B8D287-EEBF-405F-8CCA-600742D04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4508500"/>
            <a:ext cx="1992312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6" name="AutoShape 36">
            <a:extLst>
              <a:ext uri="{FF2B5EF4-FFF2-40B4-BE49-F238E27FC236}">
                <a16:creationId xmlns:a16="http://schemas.microsoft.com/office/drawing/2014/main" id="{90165E9A-CD0C-4460-AC85-08785DF90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081338"/>
            <a:ext cx="693738" cy="693737"/>
          </a:xfrm>
          <a:custGeom>
            <a:avLst/>
            <a:gdLst>
              <a:gd name="G0" fmla="*/ 1930 1 2"/>
              <a:gd name="G1" fmla="*/ 1 48365 11520"/>
              <a:gd name="G2" fmla="*/ G1 32767 1"/>
              <a:gd name="G3" fmla="*/ G2 1 32767"/>
              <a:gd name="G4" fmla="cos G0 G3"/>
              <a:gd name="G5" fmla="*/ 1930 1 2"/>
              <a:gd name="G6" fmla="*/ 1 48365 11520"/>
              <a:gd name="G7" fmla="*/ G6 32767 1"/>
              <a:gd name="G8" fmla="*/ G7 1 32767"/>
              <a:gd name="G9" fmla="sin G5 G8"/>
              <a:gd name="G10" fmla="*/ 1930 1 2"/>
              <a:gd name="G11" fmla="+- G10 0 G4"/>
              <a:gd name="G12" fmla="+- G10 G4 0"/>
              <a:gd name="G13" fmla="+- G12 0 0"/>
              <a:gd name="G14" fmla="*/ 1930 1 2"/>
              <a:gd name="G15" fmla="+- G14 0 G9"/>
              <a:gd name="G16" fmla="+- G14 G9 0"/>
              <a:gd name="G17" fmla="+- G16 0 0"/>
              <a:gd name="G18" fmla="+- 1930 0 0"/>
              <a:gd name="G19" fmla="+- 193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65"/>
                </a:moveTo>
                <a:lnTo>
                  <a:pt x="965" y="965"/>
                </a:lnTo>
                <a:lnTo>
                  <a:pt x="180" y="90"/>
                </a:lnTo>
                <a:lnTo>
                  <a:pt x="965" y="965"/>
                </a:lnTo>
                <a:lnTo>
                  <a:pt x="270" y="90"/>
                </a:lnTo>
                <a:close/>
              </a:path>
            </a:pathLst>
          </a:cu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7" name="Rectangle 37">
            <a:extLst>
              <a:ext uri="{FF2B5EF4-FFF2-40B4-BE49-F238E27FC236}">
                <a16:creationId xmlns:a16="http://schemas.microsoft.com/office/drawing/2014/main" id="{8A862923-1573-4CC9-97C6-6682D0C45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081338"/>
            <a:ext cx="693738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⑦</a:t>
            </a:r>
          </a:p>
        </p:txBody>
      </p:sp>
      <p:sp>
        <p:nvSpPr>
          <p:cNvPr id="20518" name="Rectangle 38">
            <a:extLst>
              <a:ext uri="{FF2B5EF4-FFF2-40B4-BE49-F238E27FC236}">
                <a16:creationId xmlns:a16="http://schemas.microsoft.com/office/drawing/2014/main" id="{9F1254D1-5DD4-4688-B1FA-D37E0424B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3932238"/>
            <a:ext cx="18097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로그아웃</a:t>
            </a:r>
          </a:p>
        </p:txBody>
      </p:sp>
      <p:sp>
        <p:nvSpPr>
          <p:cNvPr id="20520" name="AutoShape 40">
            <a:extLst>
              <a:ext uri="{FF2B5EF4-FFF2-40B4-BE49-F238E27FC236}">
                <a16:creationId xmlns:a16="http://schemas.microsoft.com/office/drawing/2014/main" id="{45217DB7-7DF7-42E2-BB5F-9F2052054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263" y="3081338"/>
            <a:ext cx="693737" cy="693737"/>
          </a:xfrm>
          <a:custGeom>
            <a:avLst/>
            <a:gdLst>
              <a:gd name="G0" fmla="*/ 1930 1 2"/>
              <a:gd name="G1" fmla="*/ 1 48365 11520"/>
              <a:gd name="G2" fmla="*/ G1 32767 1"/>
              <a:gd name="G3" fmla="*/ G2 1 32767"/>
              <a:gd name="G4" fmla="cos G0 G3"/>
              <a:gd name="G5" fmla="*/ 1930 1 2"/>
              <a:gd name="G6" fmla="*/ 1 48365 11520"/>
              <a:gd name="G7" fmla="*/ G6 32767 1"/>
              <a:gd name="G8" fmla="*/ G7 1 32767"/>
              <a:gd name="G9" fmla="sin G5 G8"/>
              <a:gd name="G10" fmla="*/ 1930 1 2"/>
              <a:gd name="G11" fmla="+- G10 0 G4"/>
              <a:gd name="G12" fmla="+- G10 G4 0"/>
              <a:gd name="G13" fmla="+- G12 0 0"/>
              <a:gd name="G14" fmla="*/ 1930 1 2"/>
              <a:gd name="G15" fmla="+- G14 0 G9"/>
              <a:gd name="G16" fmla="+- G14 G9 0"/>
              <a:gd name="G17" fmla="+- G16 0 0"/>
              <a:gd name="G18" fmla="+- 1930 0 0"/>
              <a:gd name="G19" fmla="+- 193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65"/>
                </a:moveTo>
                <a:lnTo>
                  <a:pt x="965" y="965"/>
                </a:lnTo>
                <a:lnTo>
                  <a:pt x="180" y="90"/>
                </a:lnTo>
                <a:lnTo>
                  <a:pt x="965" y="965"/>
                </a:lnTo>
                <a:lnTo>
                  <a:pt x="270" y="90"/>
                </a:lnTo>
                <a:close/>
              </a:path>
            </a:pathLst>
          </a:custGeom>
          <a:solidFill>
            <a:srgbClr val="1E3A6E"/>
          </a:solidFill>
          <a:ln w="12600" cap="flat">
            <a:solidFill>
              <a:srgbClr val="1E3A6E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1" name="Rectangle 41">
            <a:extLst>
              <a:ext uri="{FF2B5EF4-FFF2-40B4-BE49-F238E27FC236}">
                <a16:creationId xmlns:a16="http://schemas.microsoft.com/office/drawing/2014/main" id="{81FDE3FA-3FB5-4449-8AE5-01373C9E0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263" y="3081338"/>
            <a:ext cx="693737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b="1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20522" name="Rectangle 42">
            <a:extLst>
              <a:ext uri="{FF2B5EF4-FFF2-40B4-BE49-F238E27FC236}">
                <a16:creationId xmlns:a16="http://schemas.microsoft.com/office/drawing/2014/main" id="{393163E3-16A6-4A5E-A872-95BBCACAC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932238"/>
            <a:ext cx="18097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자동복귀</a:t>
            </a:r>
          </a:p>
          <a:p>
            <a:pPr algn="ctr" hangingPunct="1">
              <a:lnSpc>
                <a:spcPct val="100000"/>
              </a:lnSpc>
            </a:pPr>
            <a:r>
              <a:rPr lang="zh-CN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메인메뉴로 전환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48A9D920-FCCE-4D97-8CB8-C30033D89388}"/>
              </a:ext>
            </a:extLst>
          </p:cNvPr>
          <p:cNvSpPr/>
          <p:nvPr/>
        </p:nvSpPr>
        <p:spPr bwMode="auto">
          <a:xfrm>
            <a:off x="916252" y="1242665"/>
            <a:ext cx="677962" cy="6861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tabLst/>
            </a:pPr>
            <a:r>
              <a:rPr kumimoji="0" lang="ko-KR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Noto Sans CJK SC" charset="0"/>
              </a:rPr>
              <a:t>１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FAD6C602-73CF-487B-80EB-A7ADEF564EA7}"/>
              </a:ext>
            </a:extLst>
          </p:cNvPr>
          <p:cNvSpPr/>
          <p:nvPr/>
        </p:nvSpPr>
        <p:spPr bwMode="auto">
          <a:xfrm>
            <a:off x="3097113" y="1224409"/>
            <a:ext cx="677962" cy="6861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tabLst/>
            </a:pPr>
            <a:r>
              <a:rPr lang="ko-KR" altLang="en-US" dirty="0">
                <a:solidFill>
                  <a:schemeClr val="bg1"/>
                </a:solidFill>
              </a:rPr>
              <a:t>２</a:t>
            </a:r>
            <a:endParaRPr kumimoji="0" lang="ko-K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C3F9FC1-537C-4693-B25D-DFD34A52DE76}"/>
              </a:ext>
            </a:extLst>
          </p:cNvPr>
          <p:cNvSpPr/>
          <p:nvPr/>
        </p:nvSpPr>
        <p:spPr bwMode="auto">
          <a:xfrm>
            <a:off x="5273576" y="1206153"/>
            <a:ext cx="677962" cy="6861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tabLst/>
            </a:pPr>
            <a:r>
              <a:rPr lang="ko-KR" altLang="en-US" dirty="0">
                <a:solidFill>
                  <a:schemeClr val="bg1"/>
                </a:solidFill>
              </a:rPr>
              <a:t>３</a:t>
            </a:r>
            <a:endParaRPr kumimoji="0" lang="ko-K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DF18CE45-7E49-4938-870D-A1342D1B1945}"/>
              </a:ext>
            </a:extLst>
          </p:cNvPr>
          <p:cNvSpPr/>
          <p:nvPr/>
        </p:nvSpPr>
        <p:spPr bwMode="auto">
          <a:xfrm>
            <a:off x="7450038" y="1237109"/>
            <a:ext cx="677962" cy="6861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tabLst/>
            </a:pPr>
            <a:r>
              <a:rPr lang="ko-KR" altLang="en-US" dirty="0">
                <a:solidFill>
                  <a:schemeClr val="bg1"/>
                </a:solidFill>
              </a:rPr>
              <a:t>４</a:t>
            </a:r>
            <a:endParaRPr kumimoji="0" lang="ko-K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96E5F81D-A1C6-4184-8879-C5870B2A0EFE}"/>
              </a:ext>
            </a:extLst>
          </p:cNvPr>
          <p:cNvSpPr/>
          <p:nvPr/>
        </p:nvSpPr>
        <p:spPr bwMode="auto">
          <a:xfrm>
            <a:off x="906314" y="3088927"/>
            <a:ext cx="677962" cy="6861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tabLst/>
            </a:pPr>
            <a:r>
              <a:rPr lang="ko-KR" altLang="en-US" dirty="0">
                <a:solidFill>
                  <a:schemeClr val="bg1"/>
                </a:solidFill>
              </a:rPr>
              <a:t>５</a:t>
            </a:r>
            <a:endParaRPr kumimoji="0" lang="ko-K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220681A1-CE6E-43B5-8BD7-27DA9953A466}"/>
              </a:ext>
            </a:extLst>
          </p:cNvPr>
          <p:cNvSpPr/>
          <p:nvPr/>
        </p:nvSpPr>
        <p:spPr bwMode="auto">
          <a:xfrm>
            <a:off x="3081338" y="3092843"/>
            <a:ext cx="677962" cy="6861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tabLst/>
            </a:pPr>
            <a:r>
              <a:rPr lang="ko-KR" altLang="en-US" dirty="0">
                <a:solidFill>
                  <a:schemeClr val="bg1"/>
                </a:solidFill>
              </a:rPr>
              <a:t>６</a:t>
            </a:r>
            <a:endParaRPr kumimoji="0" lang="ko-K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3D4653B-0103-4712-AE05-A43242CDD18F}"/>
              </a:ext>
            </a:extLst>
          </p:cNvPr>
          <p:cNvSpPr/>
          <p:nvPr/>
        </p:nvSpPr>
        <p:spPr bwMode="auto">
          <a:xfrm>
            <a:off x="5257800" y="3160683"/>
            <a:ext cx="677962" cy="6861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tabLst/>
            </a:pPr>
            <a:r>
              <a:rPr lang="ko-KR" altLang="en-US" dirty="0">
                <a:solidFill>
                  <a:schemeClr val="bg1"/>
                </a:solidFill>
              </a:rPr>
              <a:t>７</a:t>
            </a:r>
            <a:endParaRPr kumimoji="0" lang="ko-K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Noto Sans CJK SC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타원 43">
            <a:extLst>
              <a:ext uri="{FF2B5EF4-FFF2-40B4-BE49-F238E27FC236}">
                <a16:creationId xmlns:a16="http://schemas.microsoft.com/office/drawing/2014/main" id="{9D9DC3FD-54B7-49E6-B877-6C987CCCF89B}"/>
              </a:ext>
            </a:extLst>
          </p:cNvPr>
          <p:cNvSpPr/>
          <p:nvPr/>
        </p:nvSpPr>
        <p:spPr bwMode="auto">
          <a:xfrm>
            <a:off x="4739859" y="3825327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EBD596D-A036-45ED-8FED-B09997A489F3}"/>
              </a:ext>
            </a:extLst>
          </p:cNvPr>
          <p:cNvSpPr/>
          <p:nvPr/>
        </p:nvSpPr>
        <p:spPr bwMode="auto">
          <a:xfrm>
            <a:off x="4739859" y="2894683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8F52B11-33B1-49E4-AF4E-10B9D2DE48D3}"/>
              </a:ext>
            </a:extLst>
          </p:cNvPr>
          <p:cNvSpPr/>
          <p:nvPr/>
        </p:nvSpPr>
        <p:spPr bwMode="auto">
          <a:xfrm>
            <a:off x="4754563" y="1969293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2D6194A-084C-4161-8ADA-526509ACFABE}"/>
              </a:ext>
            </a:extLst>
          </p:cNvPr>
          <p:cNvSpPr/>
          <p:nvPr/>
        </p:nvSpPr>
        <p:spPr bwMode="auto">
          <a:xfrm>
            <a:off x="4730626" y="1066781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579FD4EA-06AB-4232-AF43-D10074B78EEF}"/>
              </a:ext>
            </a:extLst>
          </p:cNvPr>
          <p:cNvSpPr/>
          <p:nvPr/>
        </p:nvSpPr>
        <p:spPr bwMode="auto">
          <a:xfrm>
            <a:off x="365125" y="3865562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CD3E176F-2114-4F73-BA6E-AB3A40CAC547}"/>
              </a:ext>
            </a:extLst>
          </p:cNvPr>
          <p:cNvSpPr/>
          <p:nvPr/>
        </p:nvSpPr>
        <p:spPr bwMode="auto">
          <a:xfrm>
            <a:off x="377701" y="2922587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291BB67-2EAF-4639-A8CF-B5BDCB867F76}"/>
              </a:ext>
            </a:extLst>
          </p:cNvPr>
          <p:cNvSpPr/>
          <p:nvPr/>
        </p:nvSpPr>
        <p:spPr bwMode="auto">
          <a:xfrm>
            <a:off x="365125" y="1991518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484BA622-C68A-4836-915A-D32763BCEDEF}"/>
              </a:ext>
            </a:extLst>
          </p:cNvPr>
          <p:cNvSpPr/>
          <p:nvPr/>
        </p:nvSpPr>
        <p:spPr bwMode="auto">
          <a:xfrm>
            <a:off x="377701" y="1069974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1505" name="Rectangle 1">
            <a:extLst>
              <a:ext uri="{FF2B5EF4-FFF2-40B4-BE49-F238E27FC236}">
                <a16:creationId xmlns:a16="http://schemas.microsoft.com/office/drawing/2014/main" id="{7C692EE3-0DEA-4504-8CFF-CC16F977F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05E61442-9708-42B1-9813-28C90146B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SYSTEM CORE REQUIREMENTS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2AC7A68-8887-4C5A-8598-1DBA64B3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08" name="AutoShape 4">
            <a:extLst>
              <a:ext uri="{FF2B5EF4-FFF2-40B4-BE49-F238E27FC236}">
                <a16:creationId xmlns:a16="http://schemas.microsoft.com/office/drawing/2014/main" id="{897B882F-DDC7-41B7-B868-01615733F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079500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323F53A-87EA-4ACF-B01C-5EF2C594F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079500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684A3B33-3569-4767-B426-2363073B2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1096963"/>
            <a:ext cx="36576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 구성</a:t>
            </a: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은행명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번호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소유주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잔액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별칭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A23458B-9710-4A2F-BE1D-285FA741C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1508125"/>
            <a:ext cx="3657600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12" name="AutoShape 8">
            <a:extLst>
              <a:ext uri="{FF2B5EF4-FFF2-40B4-BE49-F238E27FC236}">
                <a16:creationId xmlns:a16="http://schemas.microsoft.com/office/drawing/2014/main" id="{741CDB20-B279-480E-B10A-F06C623EB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1079500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2661A67D-7BEA-404B-8134-BF80DD24C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1079500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9A0E3A79-591A-43FC-A367-48F7E7DB0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1096963"/>
            <a:ext cx="36576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 은행</a:t>
            </a: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하나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우리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국민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신한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기업은행</a:t>
            </a: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675ABE43-487A-4FDE-A59D-21DDB69C7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1508125"/>
            <a:ext cx="3657600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16" name="AutoShape 12">
            <a:extLst>
              <a:ext uri="{FF2B5EF4-FFF2-40B4-BE49-F238E27FC236}">
                <a16:creationId xmlns:a16="http://schemas.microsoft.com/office/drawing/2014/main" id="{AD3E0FA6-D3F2-4A26-8A65-C62A7CE43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993900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3BA2E7AF-5974-4466-8602-E00640E9B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993900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67DCEC4C-6EE5-401A-8494-9FB3646B2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2011363"/>
            <a:ext cx="36576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생성 제한</a:t>
            </a: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최초 입금 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1,000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 이상 필수</a:t>
            </a:r>
          </a:p>
        </p:txBody>
      </p:sp>
      <p:sp>
        <p:nvSpPr>
          <p:cNvPr id="21519" name="Rectangle 15">
            <a:extLst>
              <a:ext uri="{FF2B5EF4-FFF2-40B4-BE49-F238E27FC236}">
                <a16:creationId xmlns:a16="http://schemas.microsoft.com/office/drawing/2014/main" id="{5D39AA8D-9E44-4C9E-BA22-03A397ED1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2422525"/>
            <a:ext cx="3657600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0" name="AutoShape 16">
            <a:extLst>
              <a:ext uri="{FF2B5EF4-FFF2-40B4-BE49-F238E27FC236}">
                <a16:creationId xmlns:a16="http://schemas.microsoft.com/office/drawing/2014/main" id="{B8A6B2EA-97DD-4F5D-8FF8-351A9E404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1993900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1" name="Rectangle 17">
            <a:extLst>
              <a:ext uri="{FF2B5EF4-FFF2-40B4-BE49-F238E27FC236}">
                <a16:creationId xmlns:a16="http://schemas.microsoft.com/office/drawing/2014/main" id="{07976EF8-6922-47B3-9827-BC5F5CD0A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1993900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1522" name="Rectangle 18">
            <a:extLst>
              <a:ext uri="{FF2B5EF4-FFF2-40B4-BE49-F238E27FC236}">
                <a16:creationId xmlns:a16="http://schemas.microsoft.com/office/drawing/2014/main" id="{07C2442D-8BBC-41BC-983D-EB45A2ACA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2011363"/>
            <a:ext cx="36576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별칭 정책</a:t>
            </a: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 가능 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중복 별칭 불허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8A6BC34C-7F53-4EE9-831F-7C7B099A3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2422525"/>
            <a:ext cx="3657600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4" name="AutoShape 20">
            <a:extLst>
              <a:ext uri="{FF2B5EF4-FFF2-40B4-BE49-F238E27FC236}">
                <a16:creationId xmlns:a16="http://schemas.microsoft.com/office/drawing/2014/main" id="{819F959E-C9A7-4CBF-9F1E-65DA85451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908300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5" name="Rectangle 21">
            <a:extLst>
              <a:ext uri="{FF2B5EF4-FFF2-40B4-BE49-F238E27FC236}">
                <a16:creationId xmlns:a16="http://schemas.microsoft.com/office/drawing/2014/main" id="{49594028-8EB1-4490-926E-58AD6C66E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908300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1526" name="Rectangle 22">
            <a:extLst>
              <a:ext uri="{FF2B5EF4-FFF2-40B4-BE49-F238E27FC236}">
                <a16:creationId xmlns:a16="http://schemas.microsoft.com/office/drawing/2014/main" id="{28CCA812-86AB-4731-B933-63AC2C2CE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2925763"/>
            <a:ext cx="36576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조건</a:t>
            </a: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 이하 불가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잔액 초과 시 취소</a:t>
            </a:r>
          </a:p>
        </p:txBody>
      </p:sp>
      <p:sp>
        <p:nvSpPr>
          <p:cNvPr id="21527" name="Rectangle 23">
            <a:extLst>
              <a:ext uri="{FF2B5EF4-FFF2-40B4-BE49-F238E27FC236}">
                <a16:creationId xmlns:a16="http://schemas.microsoft.com/office/drawing/2014/main" id="{AEBC98DE-723D-4627-88ED-AC6F326D0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3336925"/>
            <a:ext cx="3657600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8" name="AutoShape 24">
            <a:extLst>
              <a:ext uri="{FF2B5EF4-FFF2-40B4-BE49-F238E27FC236}">
                <a16:creationId xmlns:a16="http://schemas.microsoft.com/office/drawing/2014/main" id="{94E3A734-31FC-499F-B2D1-2C85D42F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2908300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9" name="Rectangle 25">
            <a:extLst>
              <a:ext uri="{FF2B5EF4-FFF2-40B4-BE49-F238E27FC236}">
                <a16:creationId xmlns:a16="http://schemas.microsoft.com/office/drawing/2014/main" id="{554D8FC1-4587-4498-A9CC-1E7A6A1A7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2908300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1530" name="Rectangle 26">
            <a:extLst>
              <a:ext uri="{FF2B5EF4-FFF2-40B4-BE49-F238E27FC236}">
                <a16:creationId xmlns:a16="http://schemas.microsoft.com/office/drawing/2014/main" id="{CD611B91-4ED3-441A-9ACC-828980FE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2925763"/>
            <a:ext cx="36576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원자성</a:t>
            </a: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중 에러 시 전체 롤백</a:t>
            </a:r>
          </a:p>
        </p:txBody>
      </p:sp>
      <p:sp>
        <p:nvSpPr>
          <p:cNvPr id="21531" name="Rectangle 27">
            <a:extLst>
              <a:ext uri="{FF2B5EF4-FFF2-40B4-BE49-F238E27FC236}">
                <a16:creationId xmlns:a16="http://schemas.microsoft.com/office/drawing/2014/main" id="{4CCA531D-BCE6-4FE1-942D-7A2798FBF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3336925"/>
            <a:ext cx="3657600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32" name="AutoShape 28">
            <a:extLst>
              <a:ext uri="{FF2B5EF4-FFF2-40B4-BE49-F238E27FC236}">
                <a16:creationId xmlns:a16="http://schemas.microsoft.com/office/drawing/2014/main" id="{DEB1FBD1-D7A6-4567-99A9-054535DE5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822700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33" name="Rectangle 29">
            <a:extLst>
              <a:ext uri="{FF2B5EF4-FFF2-40B4-BE49-F238E27FC236}">
                <a16:creationId xmlns:a16="http://schemas.microsoft.com/office/drawing/2014/main" id="{46032408-DE77-442D-8A3B-7B85641CB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822700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1534" name="Rectangle 30">
            <a:extLst>
              <a:ext uri="{FF2B5EF4-FFF2-40B4-BE49-F238E27FC236}">
                <a16:creationId xmlns:a16="http://schemas.microsoft.com/office/drawing/2014/main" id="{F8924960-B178-4614-A198-DB54E57A7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3867396"/>
            <a:ext cx="36576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검색 지원</a:t>
            </a: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계좌번호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별칭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은행별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전체 리스트</a:t>
            </a:r>
          </a:p>
        </p:txBody>
      </p:sp>
      <p:sp>
        <p:nvSpPr>
          <p:cNvPr id="21535" name="Rectangle 31">
            <a:extLst>
              <a:ext uri="{FF2B5EF4-FFF2-40B4-BE49-F238E27FC236}">
                <a16:creationId xmlns:a16="http://schemas.microsoft.com/office/drawing/2014/main" id="{893078B6-7DEB-490F-8600-973C82E2B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4251325"/>
            <a:ext cx="3657600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36" name="AutoShape 32">
            <a:extLst>
              <a:ext uri="{FF2B5EF4-FFF2-40B4-BE49-F238E27FC236}">
                <a16:creationId xmlns:a16="http://schemas.microsoft.com/office/drawing/2014/main" id="{0DA56E10-EEAA-4FFB-942F-42B1B5F86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3822700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37" name="Rectangle 33">
            <a:extLst>
              <a:ext uri="{FF2B5EF4-FFF2-40B4-BE49-F238E27FC236}">
                <a16:creationId xmlns:a16="http://schemas.microsoft.com/office/drawing/2014/main" id="{CB9CCCFF-F6CF-41B2-9F45-74020E3C2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3822700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1538" name="Rectangle 34">
            <a:extLst>
              <a:ext uri="{FF2B5EF4-FFF2-40B4-BE49-F238E27FC236}">
                <a16:creationId xmlns:a16="http://schemas.microsoft.com/office/drawing/2014/main" id="{777EF890-0FB4-413F-A943-AFFC546BE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3840163"/>
            <a:ext cx="36576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관리자</a:t>
            </a: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별도 로그인 → 사용자 조회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</a:t>
            </a:r>
            <a:r>
              <a:rPr lang="en-US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zh-CN" altLang="ko-KR" sz="13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삭제</a:t>
            </a:r>
          </a:p>
        </p:txBody>
      </p:sp>
      <p:sp>
        <p:nvSpPr>
          <p:cNvPr id="21539" name="Rectangle 35">
            <a:extLst>
              <a:ext uri="{FF2B5EF4-FFF2-40B4-BE49-F238E27FC236}">
                <a16:creationId xmlns:a16="http://schemas.microsoft.com/office/drawing/2014/main" id="{D144BF8C-D1E3-4B95-A6BE-CBD215D98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4251325"/>
            <a:ext cx="3657600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타원 23">
            <a:extLst>
              <a:ext uri="{FF2B5EF4-FFF2-40B4-BE49-F238E27FC236}">
                <a16:creationId xmlns:a16="http://schemas.microsoft.com/office/drawing/2014/main" id="{B91BF063-F71E-4B78-8B25-89CBF86A35C6}"/>
              </a:ext>
            </a:extLst>
          </p:cNvPr>
          <p:cNvSpPr/>
          <p:nvPr/>
        </p:nvSpPr>
        <p:spPr bwMode="auto">
          <a:xfrm>
            <a:off x="377701" y="3867149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7F26DE3-6DD6-4F62-8961-3E238AB6D5A4}"/>
              </a:ext>
            </a:extLst>
          </p:cNvPr>
          <p:cNvSpPr/>
          <p:nvPr/>
        </p:nvSpPr>
        <p:spPr bwMode="auto">
          <a:xfrm>
            <a:off x="346053" y="2970549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52C135C-0479-414A-A7F2-FA8CBB2D68AF}"/>
              </a:ext>
            </a:extLst>
          </p:cNvPr>
          <p:cNvSpPr/>
          <p:nvPr/>
        </p:nvSpPr>
        <p:spPr bwMode="auto">
          <a:xfrm>
            <a:off x="362862" y="2070893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BE7463B-34B8-4D5A-9B2C-76C8B5DE2CD5}"/>
              </a:ext>
            </a:extLst>
          </p:cNvPr>
          <p:cNvSpPr/>
          <p:nvPr/>
        </p:nvSpPr>
        <p:spPr bwMode="auto">
          <a:xfrm>
            <a:off x="346053" y="1133186"/>
            <a:ext cx="432048" cy="403226"/>
          </a:xfrm>
          <a:prstGeom prst="ellipse">
            <a:avLst/>
          </a:prstGeom>
          <a:solidFill>
            <a:srgbClr val="EBEB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sp>
        <p:nvSpPr>
          <p:cNvPr id="22529" name="Rectangle 1">
            <a:extLst>
              <a:ext uri="{FF2B5EF4-FFF2-40B4-BE49-F238E27FC236}">
                <a16:creationId xmlns:a16="http://schemas.microsoft.com/office/drawing/2014/main" id="{7FF39BB9-4A0B-4DF3-BF50-C585F0A4C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25D6C88A-8F34-437B-867C-F0829CAF6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ADMIN MODE &amp; EXCEPTION RULES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DCB398F-13AF-4DEC-8A28-C5DBFFF13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2" name="AutoShape 4">
            <a:extLst>
              <a:ext uri="{FF2B5EF4-FFF2-40B4-BE49-F238E27FC236}">
                <a16:creationId xmlns:a16="http://schemas.microsoft.com/office/drawing/2014/main" id="{51547FE2-1666-45C6-98F2-EE84C3735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152525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1DDA2924-5162-4DF7-AF1E-CB10A8C68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152525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8D910DEA-4BB7-4C94-A704-6CC333107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169988"/>
            <a:ext cx="7862888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관리자 기능</a:t>
            </a:r>
            <a:r>
              <a:rPr lang="en-US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별도 로그인을 통해 전체 사용자 조회</a:t>
            </a:r>
            <a:r>
              <a:rPr lang="en-US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</a:t>
            </a:r>
            <a:r>
              <a:rPr lang="en-US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삭제 수행</a:t>
            </a: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E92F4BE5-F8CB-4260-A5D7-2EFA6CC30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5775"/>
            <a:ext cx="7862888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6" name="AutoShape 8">
            <a:extLst>
              <a:ext uri="{FF2B5EF4-FFF2-40B4-BE49-F238E27FC236}">
                <a16:creationId xmlns:a16="http://schemas.microsoft.com/office/drawing/2014/main" id="{B08948E7-7244-44DE-A9C1-563E33409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047875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BE53FF67-210A-443F-A200-02C463937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047875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520087BD-3BAA-423D-97E1-D6F817AEA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066925"/>
            <a:ext cx="7862888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원자성</a:t>
            </a:r>
            <a:r>
              <a:rPr lang="en-US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출금</a:t>
            </a:r>
            <a:r>
              <a:rPr lang="en-US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입금 프로세스 중 하나라도 실패 시 즉시 원상 복구</a:t>
            </a:r>
            <a:r>
              <a:rPr lang="en-US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(Rollback)</a:t>
            </a:r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785A3D8A-8734-40FA-9E6E-70749B75D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51125"/>
            <a:ext cx="7862888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40" name="AutoShape 12">
            <a:extLst>
              <a:ext uri="{FF2B5EF4-FFF2-40B4-BE49-F238E27FC236}">
                <a16:creationId xmlns:a16="http://schemas.microsoft.com/office/drawing/2014/main" id="{6284DABD-C373-46D9-8EF4-DEB481586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944813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41" name="Rectangle 13">
            <a:extLst>
              <a:ext uri="{FF2B5EF4-FFF2-40B4-BE49-F238E27FC236}">
                <a16:creationId xmlns:a16="http://schemas.microsoft.com/office/drawing/2014/main" id="{8E6D4805-7A5F-4AD0-83F9-F8A94AB27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944813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2542" name="Rectangle 14">
            <a:extLst>
              <a:ext uri="{FF2B5EF4-FFF2-40B4-BE49-F238E27FC236}">
                <a16:creationId xmlns:a16="http://schemas.microsoft.com/office/drawing/2014/main" id="{E54213BB-B797-4702-A6F7-B56C03C85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962275"/>
            <a:ext cx="7862888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금융 제약 조건</a:t>
            </a:r>
            <a:r>
              <a:rPr lang="en-US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잔액 초과 출금 불가</a:t>
            </a:r>
            <a:r>
              <a:rPr lang="en-US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0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 이하 이체 시도 즉시 차단</a:t>
            </a:r>
          </a:p>
        </p:txBody>
      </p:sp>
      <p:sp>
        <p:nvSpPr>
          <p:cNvPr id="22543" name="Rectangle 15">
            <a:extLst>
              <a:ext uri="{FF2B5EF4-FFF2-40B4-BE49-F238E27FC236}">
                <a16:creationId xmlns:a16="http://schemas.microsoft.com/office/drawing/2014/main" id="{35EB8F92-C0CC-41F1-935E-075617B2D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548063"/>
            <a:ext cx="7862888" cy="17462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44" name="AutoShape 16">
            <a:extLst>
              <a:ext uri="{FF2B5EF4-FFF2-40B4-BE49-F238E27FC236}">
                <a16:creationId xmlns:a16="http://schemas.microsoft.com/office/drawing/2014/main" id="{FAD7FC66-FEE5-4D5B-AF8B-A454FD542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840163"/>
            <a:ext cx="384175" cy="384175"/>
          </a:xfrm>
          <a:custGeom>
            <a:avLst/>
            <a:gdLst>
              <a:gd name="G0" fmla="*/ 1067 1 2"/>
              <a:gd name="G1" fmla="*/ 1 48365 11520"/>
              <a:gd name="G2" fmla="*/ G1 32767 1"/>
              <a:gd name="G3" fmla="*/ G2 1 32767"/>
              <a:gd name="G4" fmla="cos G0 G3"/>
              <a:gd name="G5" fmla="*/ 1067 1 2"/>
              <a:gd name="G6" fmla="*/ 1 48365 11520"/>
              <a:gd name="G7" fmla="*/ G6 32767 1"/>
              <a:gd name="G8" fmla="*/ G7 1 32767"/>
              <a:gd name="G9" fmla="sin G5 G8"/>
              <a:gd name="G10" fmla="*/ 1067 1 2"/>
              <a:gd name="G11" fmla="+- G10 0 G4"/>
              <a:gd name="G12" fmla="+- G10 G4 0"/>
              <a:gd name="G13" fmla="+- G12 0 0"/>
              <a:gd name="G14" fmla="*/ 1067 1 2"/>
              <a:gd name="G15" fmla="+- G14 0 G9"/>
              <a:gd name="G16" fmla="+- G14 G9 0"/>
              <a:gd name="G17" fmla="+- G16 0 0"/>
              <a:gd name="G18" fmla="+- 1067 0 0"/>
              <a:gd name="G19" fmla="+- 10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34"/>
                </a:moveTo>
                <a:lnTo>
                  <a:pt x="534" y="534"/>
                </a:lnTo>
                <a:lnTo>
                  <a:pt x="180" y="90"/>
                </a:lnTo>
                <a:lnTo>
                  <a:pt x="534" y="534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45" name="Rectangle 17">
            <a:extLst>
              <a:ext uri="{FF2B5EF4-FFF2-40B4-BE49-F238E27FC236}">
                <a16:creationId xmlns:a16="http://schemas.microsoft.com/office/drawing/2014/main" id="{F2228B16-EAB3-4F1E-A4A8-B011DE60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840163"/>
            <a:ext cx="3841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cs typeface="Arial" panose="020B0604020202020204" pitchFamily="34" charset="0"/>
              </a:rPr>
              <a:t>✓</a:t>
            </a:r>
          </a:p>
        </p:txBody>
      </p:sp>
      <p:sp>
        <p:nvSpPr>
          <p:cNvPr id="22546" name="Rectangle 18">
            <a:extLst>
              <a:ext uri="{FF2B5EF4-FFF2-40B4-BE49-F238E27FC236}">
                <a16:creationId xmlns:a16="http://schemas.microsoft.com/office/drawing/2014/main" id="{A31689CB-DE7E-4355-AEC6-5FD836F82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859213"/>
            <a:ext cx="7862888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강력한 검색 필터</a:t>
            </a:r>
            <a:r>
              <a:rPr lang="en-US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계좌번호</a:t>
            </a:r>
            <a:r>
              <a:rPr lang="en-US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별칭</a:t>
            </a:r>
            <a:r>
              <a:rPr lang="en-US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은행별</a:t>
            </a:r>
            <a:r>
              <a:rPr lang="en-US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4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전체 리스트 다각도 조회 지원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>
            <a:extLst>
              <a:ext uri="{FF2B5EF4-FFF2-40B4-BE49-F238E27FC236}">
                <a16:creationId xmlns:a16="http://schemas.microsoft.com/office/drawing/2014/main" id="{FD91057C-C106-4BA2-BD6E-A0D1CB54B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AE2CD368-DEF9-465B-92F9-6270FE1F7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CODE IMPLEMENTATION: TRANSFER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0B40A83-65E9-4F8B-ACF9-C83E051B2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355EA8DD-AE4B-4203-91BE-18108214C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960438"/>
            <a:ext cx="4479925" cy="3886200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AC52B8B0-76EF-4F0D-B363-D6E359EB8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960438"/>
            <a:ext cx="4479925" cy="63500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0EF69654-E6B2-4826-AA94-1B188EC7F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16013"/>
            <a:ext cx="4205288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>
                <a:solidFill>
                  <a:srgbClr val="93C5FD"/>
                </a:solidFill>
                <a:latin typeface="Consolas" panose="020B0609020204030204" pitchFamily="49" charset="0"/>
              </a:rPr>
              <a:t>def transfer(from_acc, to_acc, amt):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D32A8C8A-5527-4A47-8AF5-4E1711438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00188"/>
            <a:ext cx="4205288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>
                <a:solidFill>
                  <a:srgbClr val="F9A8D4"/>
                </a:solidFill>
                <a:latin typeface="Consolas" panose="020B0609020204030204" pitchFamily="49" charset="0"/>
              </a:rPr>
              <a:t>    if amt &lt;= 0: return False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D953B064-D7FC-42C7-B211-5E5085D05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82775"/>
            <a:ext cx="4205288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>
                <a:solidFill>
                  <a:srgbClr val="86EFAC"/>
                </a:solidFill>
                <a:latin typeface="Consolas" panose="020B0609020204030204" pitchFamily="49" charset="0"/>
              </a:rPr>
              <a:t>    try:</a:t>
            </a:r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B1CD4702-AFC9-4DCD-88D2-143C496E2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66950"/>
            <a:ext cx="4205288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        from_acc.withdraw(amt)</a:t>
            </a:r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25B2642D-AD65-4BA6-98CC-90B225D12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51125"/>
            <a:ext cx="4205288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        to_acc.deposit(amt)</a:t>
            </a:r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C3D1286B-9D40-43A9-9197-1F5EFBEA9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35300"/>
            <a:ext cx="4205288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>
                <a:solidFill>
                  <a:srgbClr val="86EFAC"/>
                </a:solidFill>
                <a:latin typeface="Consolas" panose="020B0609020204030204" pitchFamily="49" charset="0"/>
              </a:rPr>
              <a:t>    except Exception:</a:t>
            </a:r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3D6EBAC7-B85E-46F2-A9F7-4CB6D4363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19475"/>
            <a:ext cx="4205288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>
                <a:solidFill>
                  <a:srgbClr val="FCD34D"/>
                </a:solidFill>
                <a:latin typeface="Consolas" panose="020B0609020204030204" pitchFamily="49" charset="0"/>
              </a:rPr>
              <a:t>        from_acc.deposit(amt)  # Rollback</a:t>
            </a:r>
          </a:p>
        </p:txBody>
      </p:sp>
      <p:sp>
        <p:nvSpPr>
          <p:cNvPr id="23565" name="Rectangle 13">
            <a:extLst>
              <a:ext uri="{FF2B5EF4-FFF2-40B4-BE49-F238E27FC236}">
                <a16:creationId xmlns:a16="http://schemas.microsoft.com/office/drawing/2014/main" id="{65D66603-1D1B-46E2-B2A5-05B45F0AA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803650"/>
            <a:ext cx="4205288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>
                <a:solidFill>
                  <a:srgbClr val="FCA5A5"/>
                </a:solidFill>
                <a:latin typeface="Consolas" panose="020B0609020204030204" pitchFamily="49" charset="0"/>
              </a:rPr>
              <a:t>        print("</a:t>
            </a:r>
            <a:r>
              <a:rPr lang="zh-CN" altLang="ko-KR" sz="1200">
                <a:solidFill>
                  <a:srgbClr val="FCA5A5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이체 실패</a:t>
            </a:r>
            <a:r>
              <a:rPr lang="en-US" altLang="ko-KR" sz="1200">
                <a:solidFill>
                  <a:srgbClr val="FCA5A5"/>
                </a:solidFill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032CFE20-0DD8-4A3B-9743-FCD88C9E7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960438"/>
            <a:ext cx="3840163" cy="38862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67" name="Rectangle 15">
            <a:extLst>
              <a:ext uri="{FF2B5EF4-FFF2-40B4-BE49-F238E27FC236}">
                <a16:creationId xmlns:a16="http://schemas.microsoft.com/office/drawing/2014/main" id="{028221AD-EA0A-4127-98E2-BC0082BF2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960438"/>
            <a:ext cx="3840163" cy="63500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68" name="Rectangle 16">
            <a:extLst>
              <a:ext uri="{FF2B5EF4-FFF2-40B4-BE49-F238E27FC236}">
                <a16:creationId xmlns:a16="http://schemas.microsoft.com/office/drawing/2014/main" id="{4AE39E9E-7DA1-4212-9BC3-89327CAE0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1079500"/>
            <a:ext cx="35655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4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트랜잭션 구현 전략</a:t>
            </a:r>
          </a:p>
        </p:txBody>
      </p:sp>
      <p:sp>
        <p:nvSpPr>
          <p:cNvPr id="23569" name="Rectangle 17">
            <a:extLst>
              <a:ext uri="{FF2B5EF4-FFF2-40B4-BE49-F238E27FC236}">
                <a16:creationId xmlns:a16="http://schemas.microsoft.com/office/drawing/2014/main" id="{78919F07-2CED-400C-BB78-4F3181908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1508125"/>
            <a:ext cx="3565525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금융 데이터의 무결성을 위해 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Atomic Transaction</a:t>
            </a: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구현했습니다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sp>
        <p:nvSpPr>
          <p:cNvPr id="23570" name="Rectangle 18">
            <a:extLst>
              <a:ext uri="{FF2B5EF4-FFF2-40B4-BE49-F238E27FC236}">
                <a16:creationId xmlns:a16="http://schemas.microsoft.com/office/drawing/2014/main" id="{1827E878-2AD6-454D-8FE9-C557DF3B3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239963"/>
            <a:ext cx="3565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zh-CN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</a:t>
            </a: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zh-CN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 이하 및 잔액 초과 체크</a:t>
            </a:r>
          </a:p>
        </p:txBody>
      </p:sp>
      <p:sp>
        <p:nvSpPr>
          <p:cNvPr id="23571" name="Rectangle 19">
            <a:extLst>
              <a:ext uri="{FF2B5EF4-FFF2-40B4-BE49-F238E27FC236}">
                <a16:creationId xmlns:a16="http://schemas.microsoft.com/office/drawing/2014/main" id="{3CDEA9CD-C6AE-4E4F-9A1D-11D35BAEE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679700"/>
            <a:ext cx="3565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zh-CN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처리</a:t>
            </a: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상호 계좌 잔액 갱신</a:t>
            </a:r>
          </a:p>
        </p:txBody>
      </p:sp>
      <p:sp>
        <p:nvSpPr>
          <p:cNvPr id="23572" name="Rectangle 20">
            <a:extLst>
              <a:ext uri="{FF2B5EF4-FFF2-40B4-BE49-F238E27FC236}">
                <a16:creationId xmlns:a16="http://schemas.microsoft.com/office/drawing/2014/main" id="{4679AF63-0C1D-4230-B841-B515AD8E8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3117850"/>
            <a:ext cx="3565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zh-CN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복구</a:t>
            </a: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예외 발생 시 수동 롤백 수행</a:t>
            </a:r>
          </a:p>
        </p:txBody>
      </p:sp>
      <p:sp>
        <p:nvSpPr>
          <p:cNvPr id="23573" name="Rectangle 21">
            <a:extLst>
              <a:ext uri="{FF2B5EF4-FFF2-40B4-BE49-F238E27FC236}">
                <a16:creationId xmlns:a16="http://schemas.microsoft.com/office/drawing/2014/main" id="{BA23828C-E373-488A-8067-2003F4C13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3565525"/>
            <a:ext cx="3565525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74" name="Rectangle 22">
            <a:extLst>
              <a:ext uri="{FF2B5EF4-FFF2-40B4-BE49-F238E27FC236}">
                <a16:creationId xmlns:a16="http://schemas.microsoft.com/office/drawing/2014/main" id="{2B17A718-49CA-47C3-AE32-92032AFFC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3694113"/>
            <a:ext cx="35655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100" i="1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*</a:t>
            </a:r>
            <a:r>
              <a:rPr lang="zh-CN" altLang="ko-KR" sz="1100" i="1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부분은 자산 손실 방지를 위한 핵심 로직입니다</a:t>
            </a:r>
            <a:r>
              <a:rPr lang="en-US" altLang="ko-KR" sz="1100" i="1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>
            <a:extLst>
              <a:ext uri="{FF2B5EF4-FFF2-40B4-BE49-F238E27FC236}">
                <a16:creationId xmlns:a16="http://schemas.microsoft.com/office/drawing/2014/main" id="{FE847FFD-DD2D-4EB3-A906-EB6615EB1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0A302686-00AF-4A25-81FF-A9FF28CAC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>
                <a:solidFill>
                  <a:srgbClr val="0D2149"/>
                </a:solidFill>
                <a:latin typeface="Georgia" panose="02040502050405020303" pitchFamily="18" charset="0"/>
              </a:rPr>
              <a:t>DESIGN DECISIONS &amp; CHALLENGES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1BE484D-35A6-4674-8E63-D1D47FA9B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FE6B46A7-A422-4FAA-81EB-B3D4C859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006475"/>
            <a:ext cx="50292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7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TRANSACTION </a:t>
            </a:r>
            <a:r>
              <a:rPr lang="zh-CN" altLang="ko-KR" sz="17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테이블 추가 과정</a:t>
            </a:r>
          </a:p>
        </p:txBody>
      </p:sp>
      <p:sp>
        <p:nvSpPr>
          <p:cNvPr id="26629" name="AutoShape 5">
            <a:extLst>
              <a:ext uri="{FF2B5EF4-FFF2-40B4-BE49-F238E27FC236}">
                <a16:creationId xmlns:a16="http://schemas.microsoft.com/office/drawing/2014/main" id="{302CFB9A-2419-4F71-815B-80A2D3E5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709738"/>
            <a:ext cx="274638" cy="274637"/>
          </a:xfrm>
          <a:custGeom>
            <a:avLst/>
            <a:gdLst>
              <a:gd name="G0" fmla="*/ 762 1 2"/>
              <a:gd name="G1" fmla="*/ 1 48365 11520"/>
              <a:gd name="G2" fmla="*/ G1 32767 1"/>
              <a:gd name="G3" fmla="*/ G2 1 32767"/>
              <a:gd name="G4" fmla="cos G0 G3"/>
              <a:gd name="G5" fmla="*/ 762 1 2"/>
              <a:gd name="G6" fmla="*/ 1 48365 11520"/>
              <a:gd name="G7" fmla="*/ G6 32767 1"/>
              <a:gd name="G8" fmla="*/ G7 1 32767"/>
              <a:gd name="G9" fmla="sin G5 G8"/>
              <a:gd name="G10" fmla="*/ 762 1 2"/>
              <a:gd name="G11" fmla="+- G10 0 G4"/>
              <a:gd name="G12" fmla="+- G10 G4 0"/>
              <a:gd name="G13" fmla="+- G12 0 0"/>
              <a:gd name="G14" fmla="*/ 762 1 2"/>
              <a:gd name="G15" fmla="+- G14 0 G9"/>
              <a:gd name="G16" fmla="+- G14 G9 0"/>
              <a:gd name="G17" fmla="+- G16 0 0"/>
              <a:gd name="G18" fmla="+- 762 0 0"/>
              <a:gd name="G19" fmla="+- 7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1"/>
                </a:moveTo>
                <a:lnTo>
                  <a:pt x="381" y="381"/>
                </a:lnTo>
                <a:lnTo>
                  <a:pt x="180" y="90"/>
                </a:lnTo>
                <a:lnTo>
                  <a:pt x="381" y="381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6662E723-D91C-4C79-8C0A-B9BBCFEF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1663700"/>
            <a:ext cx="4389438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설계</a:t>
            </a: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USER, BANK, ACCOUNT 3</a:t>
            </a: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테이블만으로 시작하여</a:t>
            </a:r>
          </a:p>
          <a:p>
            <a:pPr hangingPunct="1">
              <a:lnSpc>
                <a:spcPct val="100000"/>
              </a:lnSpc>
            </a:pP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입출금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기능을 계좌 객체 내부에서 처리했습니다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90D4B746-48A8-4972-B3B3-B0A5BD94A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2378075"/>
            <a:ext cx="4389438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32" name="AutoShape 8">
            <a:extLst>
              <a:ext uri="{FF2B5EF4-FFF2-40B4-BE49-F238E27FC236}">
                <a16:creationId xmlns:a16="http://schemas.microsoft.com/office/drawing/2014/main" id="{E5D96ACD-E398-4009-8829-F5B885980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487613"/>
            <a:ext cx="274638" cy="274637"/>
          </a:xfrm>
          <a:custGeom>
            <a:avLst/>
            <a:gdLst>
              <a:gd name="G0" fmla="*/ 762 1 2"/>
              <a:gd name="G1" fmla="*/ 1 48365 11520"/>
              <a:gd name="G2" fmla="*/ G1 32767 1"/>
              <a:gd name="G3" fmla="*/ G2 1 32767"/>
              <a:gd name="G4" fmla="cos G0 G3"/>
              <a:gd name="G5" fmla="*/ 762 1 2"/>
              <a:gd name="G6" fmla="*/ 1 48365 11520"/>
              <a:gd name="G7" fmla="*/ G6 32767 1"/>
              <a:gd name="G8" fmla="*/ G7 1 32767"/>
              <a:gd name="G9" fmla="sin G5 G8"/>
              <a:gd name="G10" fmla="*/ 762 1 2"/>
              <a:gd name="G11" fmla="+- G10 0 G4"/>
              <a:gd name="G12" fmla="+- G10 G4 0"/>
              <a:gd name="G13" fmla="+- G12 0 0"/>
              <a:gd name="G14" fmla="*/ 762 1 2"/>
              <a:gd name="G15" fmla="+- G14 0 G9"/>
              <a:gd name="G16" fmla="+- G14 G9 0"/>
              <a:gd name="G17" fmla="+- G16 0 0"/>
              <a:gd name="G18" fmla="+- 762 0 0"/>
              <a:gd name="G19" fmla="+- 7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1"/>
                </a:moveTo>
                <a:lnTo>
                  <a:pt x="381" y="381"/>
                </a:lnTo>
                <a:lnTo>
                  <a:pt x="180" y="90"/>
                </a:lnTo>
                <a:lnTo>
                  <a:pt x="381" y="381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100E777B-5824-45DC-B17F-400FFF2F5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2441575"/>
            <a:ext cx="4389438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 발견</a:t>
            </a: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거래내역 조회 기능 구현 시 과거 이력이 남지 않는</a:t>
            </a:r>
          </a:p>
          <a:p>
            <a:pPr hangingPunct="1">
              <a:lnSpc>
                <a:spcPct val="100000"/>
              </a:lnSpc>
            </a:pP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구조적 한계를 발견했습니다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4D25E020-D89B-4904-8032-A33D27844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3154363"/>
            <a:ext cx="4389438" cy="17462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35" name="AutoShape 11">
            <a:extLst>
              <a:ext uri="{FF2B5EF4-FFF2-40B4-BE49-F238E27FC236}">
                <a16:creationId xmlns:a16="http://schemas.microsoft.com/office/drawing/2014/main" id="{28EF0705-A783-439A-8229-3F944B5AE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263900"/>
            <a:ext cx="274638" cy="274638"/>
          </a:xfrm>
          <a:custGeom>
            <a:avLst/>
            <a:gdLst>
              <a:gd name="G0" fmla="*/ 762 1 2"/>
              <a:gd name="G1" fmla="*/ 1 48365 11520"/>
              <a:gd name="G2" fmla="*/ G1 32767 1"/>
              <a:gd name="G3" fmla="*/ G2 1 32767"/>
              <a:gd name="G4" fmla="cos G0 G3"/>
              <a:gd name="G5" fmla="*/ 762 1 2"/>
              <a:gd name="G6" fmla="*/ 1 48365 11520"/>
              <a:gd name="G7" fmla="*/ G6 32767 1"/>
              <a:gd name="G8" fmla="*/ G7 1 32767"/>
              <a:gd name="G9" fmla="sin G5 G8"/>
              <a:gd name="G10" fmla="*/ 762 1 2"/>
              <a:gd name="G11" fmla="+- G10 0 G4"/>
              <a:gd name="G12" fmla="+- G10 G4 0"/>
              <a:gd name="G13" fmla="+- G12 0 0"/>
              <a:gd name="G14" fmla="*/ 762 1 2"/>
              <a:gd name="G15" fmla="+- G14 0 G9"/>
              <a:gd name="G16" fmla="+- G14 G9 0"/>
              <a:gd name="G17" fmla="+- G16 0 0"/>
              <a:gd name="G18" fmla="+- 762 0 0"/>
              <a:gd name="G19" fmla="+- 7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1"/>
                </a:moveTo>
                <a:lnTo>
                  <a:pt x="381" y="381"/>
                </a:lnTo>
                <a:lnTo>
                  <a:pt x="180" y="90"/>
                </a:lnTo>
                <a:lnTo>
                  <a:pt x="381" y="381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09235900-6DC5-4A05-8B4F-E4EC1501E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3219450"/>
            <a:ext cx="4389438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해결 과정</a:t>
            </a:r>
            <a:r>
              <a:rPr lang="en-US" altLang="ko-KR" sz="12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TRANSACTION </a:t>
            </a: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테이블을 추가하여 모든 입출금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</a:t>
            </a:r>
          </a:p>
          <a:p>
            <a:pPr hangingPunct="1">
              <a:lnSpc>
                <a:spcPct val="100000"/>
              </a:lnSpc>
            </a:pP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이력을 별도로 기록하도록 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ER </a:t>
            </a:r>
            <a:r>
              <a:rPr lang="zh-CN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다이어그램을 수정했습니다</a:t>
            </a:r>
            <a:r>
              <a:rPr lang="en-US" altLang="ko-KR" sz="12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13A135E2-89AE-4D95-811E-2D8F07236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3932238"/>
            <a:ext cx="4389438" cy="17462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38" name="AutoShape 14">
            <a:extLst>
              <a:ext uri="{FF2B5EF4-FFF2-40B4-BE49-F238E27FC236}">
                <a16:creationId xmlns:a16="http://schemas.microsoft.com/office/drawing/2014/main" id="{85BE2E70-4054-4413-A19E-ED0F75032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4041775"/>
            <a:ext cx="274638" cy="274638"/>
          </a:xfrm>
          <a:custGeom>
            <a:avLst/>
            <a:gdLst>
              <a:gd name="G0" fmla="*/ 762 1 2"/>
              <a:gd name="G1" fmla="*/ 1 48365 11520"/>
              <a:gd name="G2" fmla="*/ G1 32767 1"/>
              <a:gd name="G3" fmla="*/ G2 1 32767"/>
              <a:gd name="G4" fmla="cos G0 G3"/>
              <a:gd name="G5" fmla="*/ 762 1 2"/>
              <a:gd name="G6" fmla="*/ 1 48365 11520"/>
              <a:gd name="G7" fmla="*/ G6 32767 1"/>
              <a:gd name="G8" fmla="*/ G7 1 32767"/>
              <a:gd name="G9" fmla="sin G5 G8"/>
              <a:gd name="G10" fmla="*/ 762 1 2"/>
              <a:gd name="G11" fmla="+- G10 0 G4"/>
              <a:gd name="G12" fmla="+- G10 G4 0"/>
              <a:gd name="G13" fmla="+- G12 0 0"/>
              <a:gd name="G14" fmla="*/ 762 1 2"/>
              <a:gd name="G15" fmla="+- G14 0 G9"/>
              <a:gd name="G16" fmla="+- G14 G9 0"/>
              <a:gd name="G17" fmla="+- G16 0 0"/>
              <a:gd name="G18" fmla="+- 762 0 0"/>
              <a:gd name="G19" fmla="+- 7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1"/>
                </a:moveTo>
                <a:lnTo>
                  <a:pt x="381" y="381"/>
                </a:lnTo>
                <a:lnTo>
                  <a:pt x="180" y="90"/>
                </a:lnTo>
                <a:lnTo>
                  <a:pt x="381" y="381"/>
                </a:lnTo>
                <a:lnTo>
                  <a:pt x="270" y="90"/>
                </a:lnTo>
                <a:close/>
              </a:path>
            </a:pathLst>
          </a:cu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C45FFAEA-2026-4A19-BD1A-6639A81EE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3995738"/>
            <a:ext cx="4389438" cy="65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2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트레이드 오프</a:t>
            </a:r>
            <a:r>
              <a:rPr lang="en-US" altLang="ko-KR" sz="1200" b="1" dirty="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2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복잡한 </a:t>
            </a:r>
            <a:r>
              <a:rPr lang="en-US" altLang="ko-KR" sz="12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DB </a:t>
            </a:r>
            <a:r>
              <a:rPr lang="zh-CN" altLang="ko-KR" sz="12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대신 딕셔너리를 사용하여 개발 속도를</a:t>
            </a:r>
            <a:r>
              <a:rPr lang="en-US" altLang="zh-CN" sz="12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zh-CN" altLang="ko-KR" sz="12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높였으나</a:t>
            </a:r>
            <a:r>
              <a:rPr lang="en-US" altLang="ko-KR" sz="12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zh-CN" altLang="ko-KR" sz="12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영속성 측면에서의 타협이 있었습니다</a:t>
            </a:r>
            <a:r>
              <a:rPr lang="en-US" altLang="ko-KR" sz="12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sp>
        <p:nvSpPr>
          <p:cNvPr id="26640" name="Rectangle 16">
            <a:extLst>
              <a:ext uri="{FF2B5EF4-FFF2-40B4-BE49-F238E27FC236}">
                <a16:creationId xmlns:a16="http://schemas.microsoft.com/office/drawing/2014/main" id="{11F827ED-20C1-45A4-BCED-B23DC6BAB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1006475"/>
            <a:ext cx="3657600" cy="3840163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41" name="Rectangle 17">
            <a:extLst>
              <a:ext uri="{FF2B5EF4-FFF2-40B4-BE49-F238E27FC236}">
                <a16:creationId xmlns:a16="http://schemas.microsoft.com/office/drawing/2014/main" id="{95692E5F-96F7-41E8-A8E2-6C7A3C810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1006475"/>
            <a:ext cx="3657600" cy="63500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42" name="Rectangle 18">
            <a:extLst>
              <a:ext uri="{FF2B5EF4-FFF2-40B4-BE49-F238E27FC236}">
                <a16:creationId xmlns:a16="http://schemas.microsoft.com/office/drawing/2014/main" id="{73BD0456-9622-434D-ADC4-735DF8CFF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1116013"/>
            <a:ext cx="3382962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ER </a:t>
            </a: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변화</a:t>
            </a:r>
          </a:p>
        </p:txBody>
      </p:sp>
      <p:sp>
        <p:nvSpPr>
          <p:cNvPr id="26643" name="Rectangle 19">
            <a:extLst>
              <a:ext uri="{FF2B5EF4-FFF2-40B4-BE49-F238E27FC236}">
                <a16:creationId xmlns:a16="http://schemas.microsoft.com/office/drawing/2014/main" id="{A90A36EC-77B4-4816-A0A0-4DE999180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1573213"/>
            <a:ext cx="3382962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b="1">
                <a:solidFill>
                  <a:srgbClr val="C9A84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이전 </a:t>
            </a:r>
            <a:r>
              <a:rPr lang="en-US" altLang="ko-KR" sz="1100" b="1">
                <a:solidFill>
                  <a:srgbClr val="C9A84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(3 </a:t>
            </a:r>
            <a:r>
              <a:rPr lang="zh-CN" altLang="ko-KR" sz="1100" b="1">
                <a:solidFill>
                  <a:srgbClr val="C9A84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테이블</a:t>
            </a:r>
            <a:r>
              <a:rPr lang="en-US" altLang="ko-KR" sz="1100" b="1">
                <a:solidFill>
                  <a:srgbClr val="C9A84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</p:txBody>
      </p:sp>
      <p:sp>
        <p:nvSpPr>
          <p:cNvPr id="26644" name="Rectangle 20">
            <a:extLst>
              <a:ext uri="{FF2B5EF4-FFF2-40B4-BE49-F238E27FC236}">
                <a16:creationId xmlns:a16="http://schemas.microsoft.com/office/drawing/2014/main" id="{5C9D1D9E-11D1-41BD-8241-7DE64BCD4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8" y="1920875"/>
            <a:ext cx="960437" cy="384175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45" name="Rectangle 21">
            <a:extLst>
              <a:ext uri="{FF2B5EF4-FFF2-40B4-BE49-F238E27FC236}">
                <a16:creationId xmlns:a16="http://schemas.microsoft.com/office/drawing/2014/main" id="{17B98D4B-1FBA-4D34-B2A5-0FDBE62FE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8" y="1920875"/>
            <a:ext cx="96043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USER</a:t>
            </a:r>
          </a:p>
        </p:txBody>
      </p:sp>
      <p:sp>
        <p:nvSpPr>
          <p:cNvPr id="26646" name="Rectangle 22">
            <a:extLst>
              <a:ext uri="{FF2B5EF4-FFF2-40B4-BE49-F238E27FC236}">
                <a16:creationId xmlns:a16="http://schemas.microsoft.com/office/drawing/2014/main" id="{951CE129-2C53-457C-8ACC-256102C2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1920875"/>
            <a:ext cx="960438" cy="384175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47" name="Rectangle 23">
            <a:extLst>
              <a:ext uri="{FF2B5EF4-FFF2-40B4-BE49-F238E27FC236}">
                <a16:creationId xmlns:a16="http://schemas.microsoft.com/office/drawing/2014/main" id="{6C5A49CA-8C2E-4641-AF98-35C77B2C1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1920875"/>
            <a:ext cx="96043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BANK</a:t>
            </a: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5CCD7815-C977-4494-8C38-F41518FF2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0" y="1920875"/>
            <a:ext cx="960438" cy="384175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49" name="Rectangle 25">
            <a:extLst>
              <a:ext uri="{FF2B5EF4-FFF2-40B4-BE49-F238E27FC236}">
                <a16:creationId xmlns:a16="http://schemas.microsoft.com/office/drawing/2014/main" id="{9424389D-EE95-4523-8389-060F2A89E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0" y="1920875"/>
            <a:ext cx="96043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ACCOUNT</a:t>
            </a:r>
          </a:p>
        </p:txBody>
      </p:sp>
      <p:sp>
        <p:nvSpPr>
          <p:cNvPr id="26650" name="Rectangle 26">
            <a:extLst>
              <a:ext uri="{FF2B5EF4-FFF2-40B4-BE49-F238E27FC236}">
                <a16:creationId xmlns:a16="http://schemas.microsoft.com/office/drawing/2014/main" id="{BC5F0C36-BF86-4435-A3FD-96E98BA1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2451100"/>
            <a:ext cx="3382962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100" b="1" dirty="0">
                <a:solidFill>
                  <a:srgbClr val="C9A84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↓  TRANSACTION </a:t>
            </a:r>
            <a:r>
              <a:rPr lang="zh-CN" altLang="ko-KR" sz="1100" b="1" dirty="0">
                <a:solidFill>
                  <a:srgbClr val="C9A84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필요성 발견</a:t>
            </a:r>
          </a:p>
        </p:txBody>
      </p:sp>
      <p:sp>
        <p:nvSpPr>
          <p:cNvPr id="26651" name="Rectangle 27">
            <a:extLst>
              <a:ext uri="{FF2B5EF4-FFF2-40B4-BE49-F238E27FC236}">
                <a16:creationId xmlns:a16="http://schemas.microsoft.com/office/drawing/2014/main" id="{2805868C-19DE-4057-8E81-29D1B87C4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2871788"/>
            <a:ext cx="3382962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b="1">
                <a:solidFill>
                  <a:srgbClr val="1D9E7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이후 </a:t>
            </a:r>
            <a:r>
              <a:rPr lang="en-US" altLang="ko-KR" sz="1100" b="1">
                <a:solidFill>
                  <a:srgbClr val="1D9E7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(4 </a:t>
            </a:r>
            <a:r>
              <a:rPr lang="zh-CN" altLang="ko-KR" sz="1100" b="1">
                <a:solidFill>
                  <a:srgbClr val="1D9E7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테이블</a:t>
            </a:r>
            <a:r>
              <a:rPr lang="en-US" altLang="ko-KR" sz="1100" b="1">
                <a:solidFill>
                  <a:srgbClr val="1D9E7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</p:txBody>
      </p:sp>
      <p:sp>
        <p:nvSpPr>
          <p:cNvPr id="26652" name="Rectangle 28">
            <a:extLst>
              <a:ext uri="{FF2B5EF4-FFF2-40B4-BE49-F238E27FC236}">
                <a16:creationId xmlns:a16="http://schemas.microsoft.com/office/drawing/2014/main" id="{03708F6E-3ADF-4930-BB7C-4249177C7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8" y="3219450"/>
            <a:ext cx="1462087" cy="411163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53" name="Rectangle 29">
            <a:extLst>
              <a:ext uri="{FF2B5EF4-FFF2-40B4-BE49-F238E27FC236}">
                <a16:creationId xmlns:a16="http://schemas.microsoft.com/office/drawing/2014/main" id="{AA2DBEA0-F5E0-4EA1-B076-F867C8649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8" y="3219450"/>
            <a:ext cx="1462087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USER</a:t>
            </a:r>
          </a:p>
        </p:txBody>
      </p:sp>
      <p:sp>
        <p:nvSpPr>
          <p:cNvPr id="26654" name="Rectangle 30">
            <a:extLst>
              <a:ext uri="{FF2B5EF4-FFF2-40B4-BE49-F238E27FC236}">
                <a16:creationId xmlns:a16="http://schemas.microsoft.com/office/drawing/2014/main" id="{21982AD2-E714-4F9B-BB79-FDF231243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3219450"/>
            <a:ext cx="1462088" cy="411163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55" name="Rectangle 31">
            <a:extLst>
              <a:ext uri="{FF2B5EF4-FFF2-40B4-BE49-F238E27FC236}">
                <a16:creationId xmlns:a16="http://schemas.microsoft.com/office/drawing/2014/main" id="{E87131F0-068E-4387-A6B4-C26E3F987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3219450"/>
            <a:ext cx="1462088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BANK</a:t>
            </a:r>
          </a:p>
        </p:txBody>
      </p:sp>
      <p:sp>
        <p:nvSpPr>
          <p:cNvPr id="26656" name="Rectangle 32">
            <a:extLst>
              <a:ext uri="{FF2B5EF4-FFF2-40B4-BE49-F238E27FC236}">
                <a16:creationId xmlns:a16="http://schemas.microsoft.com/office/drawing/2014/main" id="{58A5403D-416E-4E4D-A341-99990096A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8" y="3749675"/>
            <a:ext cx="1462087" cy="411163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57" name="Rectangle 33">
            <a:extLst>
              <a:ext uri="{FF2B5EF4-FFF2-40B4-BE49-F238E27FC236}">
                <a16:creationId xmlns:a16="http://schemas.microsoft.com/office/drawing/2014/main" id="{20120988-BE31-40FA-81C3-491CE28C9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8" y="3749675"/>
            <a:ext cx="1462087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ACCT</a:t>
            </a:r>
          </a:p>
        </p:txBody>
      </p:sp>
      <p:sp>
        <p:nvSpPr>
          <p:cNvPr id="26658" name="Rectangle 34">
            <a:extLst>
              <a:ext uri="{FF2B5EF4-FFF2-40B4-BE49-F238E27FC236}">
                <a16:creationId xmlns:a16="http://schemas.microsoft.com/office/drawing/2014/main" id="{700F7BB6-CBFF-4202-910B-B9D2DB716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3749675"/>
            <a:ext cx="1462088" cy="411163"/>
          </a:xfrm>
          <a:prstGeom prst="rect">
            <a:avLst/>
          </a:prstGeom>
          <a:solidFill>
            <a:srgbClr val="1D9E75"/>
          </a:solidFill>
          <a:ln w="12600" cap="flat">
            <a:solidFill>
              <a:srgbClr val="1D9E7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59" name="Rectangle 35">
            <a:extLst>
              <a:ext uri="{FF2B5EF4-FFF2-40B4-BE49-F238E27FC236}">
                <a16:creationId xmlns:a16="http://schemas.microsoft.com/office/drawing/2014/main" id="{DCB96F3B-4386-49C8-A8FD-A8CB58171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3749675"/>
            <a:ext cx="1462088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9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TRANSACTION</a:t>
            </a:r>
          </a:p>
        </p:txBody>
      </p:sp>
      <p:sp>
        <p:nvSpPr>
          <p:cNvPr id="26660" name="Rectangle 36">
            <a:extLst>
              <a:ext uri="{FF2B5EF4-FFF2-40B4-BE49-F238E27FC236}">
                <a16:creationId xmlns:a16="http://schemas.microsoft.com/office/drawing/2014/main" id="{A3D5E049-4F77-49EE-9380-31B3B68BB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4316413"/>
            <a:ext cx="33829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000" i="1">
                <a:solidFill>
                  <a:srgbClr val="1D9E7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* </a:t>
            </a:r>
            <a:r>
              <a:rPr lang="zh-CN" altLang="ko-KR" sz="1000" i="1">
                <a:solidFill>
                  <a:srgbClr val="1D9E7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초록색</a:t>
            </a:r>
            <a:r>
              <a:rPr lang="en-US" altLang="ko-KR" sz="1000" i="1">
                <a:solidFill>
                  <a:srgbClr val="1D9E7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zh-CN" altLang="ko-KR" sz="1000" i="1">
                <a:solidFill>
                  <a:srgbClr val="1D9E7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새로 추가된 테이블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>
            <a:extLst>
              <a:ext uri="{FF2B5EF4-FFF2-40B4-BE49-F238E27FC236}">
                <a16:creationId xmlns:a16="http://schemas.microsoft.com/office/drawing/2014/main" id="{F2A6E37F-B8ED-4D5C-96CC-E6D211BC9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3739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0CED6F4B-7352-40D6-8F80-358F028B4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3" y="14625"/>
            <a:ext cx="804703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600" b="1" dirty="0">
                <a:solidFill>
                  <a:srgbClr val="0D2149"/>
                </a:solidFill>
                <a:latin typeface="Georgia" panose="02040502050405020303" pitchFamily="18" charset="0"/>
              </a:rPr>
              <a:t>ER DIAGRAM: </a:t>
            </a:r>
            <a:r>
              <a:rPr lang="zh-CN" altLang="ko-KR" sz="2600" b="1" dirty="0">
                <a:solidFill>
                  <a:srgbClr val="0D2149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테이블별 역할 정리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1629A33-11A5-4F38-88A6-AB8BD2608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EBBBBB4B-BBA5-407B-9AE3-F91DAD94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2816225"/>
            <a:ext cx="2030412" cy="2176463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80" name="Rectangle 8">
            <a:extLst>
              <a:ext uri="{FF2B5EF4-FFF2-40B4-BE49-F238E27FC236}">
                <a16:creationId xmlns:a16="http://schemas.microsoft.com/office/drawing/2014/main" id="{F41037C9-A8E7-4811-B438-A7650EF76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2816225"/>
            <a:ext cx="2030412" cy="438150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81" name="Rectangle 9">
            <a:extLst>
              <a:ext uri="{FF2B5EF4-FFF2-40B4-BE49-F238E27FC236}">
                <a16:creationId xmlns:a16="http://schemas.microsoft.com/office/drawing/2014/main" id="{F8292A8E-7C28-4790-B4C2-DC8D0F5E3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2835275"/>
            <a:ext cx="1846262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latin typeface="Georgia" panose="02040502050405020303" pitchFamily="18" charset="0"/>
              </a:rPr>
              <a:t>USER</a:t>
            </a:r>
          </a:p>
        </p:txBody>
      </p:sp>
      <p:sp>
        <p:nvSpPr>
          <p:cNvPr id="28682" name="Rectangle 10">
            <a:extLst>
              <a:ext uri="{FF2B5EF4-FFF2-40B4-BE49-F238E27FC236}">
                <a16:creationId xmlns:a16="http://schemas.microsoft.com/office/drawing/2014/main" id="{ED287A76-18C5-4003-B6CA-99C0A919D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3071813"/>
            <a:ext cx="18462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사용자 인증 </a:t>
            </a:r>
            <a:r>
              <a:rPr lang="en-US" altLang="ko-KR" sz="900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</a:t>
            </a:r>
            <a:r>
              <a:rPr lang="zh-CN" altLang="ko-KR" sz="900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권한</a:t>
            </a:r>
          </a:p>
        </p:txBody>
      </p:sp>
      <p:sp>
        <p:nvSpPr>
          <p:cNvPr id="28683" name="Rectangle 11">
            <a:extLst>
              <a:ext uri="{FF2B5EF4-FFF2-40B4-BE49-F238E27FC236}">
                <a16:creationId xmlns:a16="http://schemas.microsoft.com/office/drawing/2014/main" id="{3D1AA336-2872-496D-BD3C-F08D85BFC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3328988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84" name="Rectangle 12">
            <a:extLst>
              <a:ext uri="{FF2B5EF4-FFF2-40B4-BE49-F238E27FC236}">
                <a16:creationId xmlns:a16="http://schemas.microsoft.com/office/drawing/2014/main" id="{46D263DA-846C-4176-8BA0-63B274E2A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365500"/>
            <a:ext cx="236538" cy="146050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85" name="Rectangle 13">
            <a:extLst>
              <a:ext uri="{FF2B5EF4-FFF2-40B4-BE49-F238E27FC236}">
                <a16:creationId xmlns:a16="http://schemas.microsoft.com/office/drawing/2014/main" id="{227C0120-BF6F-4029-87F8-28B9CA59D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365500"/>
            <a:ext cx="2365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700" b="1">
                <a:solidFill>
                  <a:srgbClr val="FFFFFF"/>
                </a:solidFill>
                <a:cs typeface="Arial" panose="020B0604020202020204" pitchFamily="34" charset="0"/>
              </a:rPr>
              <a:t>PK</a:t>
            </a:r>
          </a:p>
        </p:txBody>
      </p:sp>
      <p:sp>
        <p:nvSpPr>
          <p:cNvPr id="28686" name="Rectangle 14">
            <a:extLst>
              <a:ext uri="{FF2B5EF4-FFF2-40B4-BE49-F238E27FC236}">
                <a16:creationId xmlns:a16="http://schemas.microsoft.com/office/drawing/2014/main" id="{A1093F9A-EE42-44EA-90C1-06D81D51E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355975"/>
            <a:ext cx="1527175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user_id (PK)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고유 식별자</a:t>
            </a:r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DDEF5DB3-C664-45A9-AB64-20B9D82AB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3584575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D1C05B1D-32A4-4ADE-A193-ABECF15FF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3611563"/>
            <a:ext cx="1801813" cy="17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password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로그인 인증</a:t>
            </a:r>
          </a:p>
        </p:txBody>
      </p:sp>
      <p:sp>
        <p:nvSpPr>
          <p:cNvPr id="28689" name="Rectangle 17">
            <a:extLst>
              <a:ext uri="{FF2B5EF4-FFF2-40B4-BE49-F238E27FC236}">
                <a16:creationId xmlns:a16="http://schemas.microsoft.com/office/drawing/2014/main" id="{C0671413-E982-47EF-A526-CD10C8887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3840163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90" name="Rectangle 18">
            <a:extLst>
              <a:ext uri="{FF2B5EF4-FFF2-40B4-BE49-F238E27FC236}">
                <a16:creationId xmlns:a16="http://schemas.microsoft.com/office/drawing/2014/main" id="{CACB8A2E-5018-4ADC-A743-706B5D8BA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3867150"/>
            <a:ext cx="1801813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name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계좌주 표시명</a:t>
            </a:r>
          </a:p>
        </p:txBody>
      </p:sp>
      <p:sp>
        <p:nvSpPr>
          <p:cNvPr id="28691" name="Rectangle 19">
            <a:extLst>
              <a:ext uri="{FF2B5EF4-FFF2-40B4-BE49-F238E27FC236}">
                <a16:creationId xmlns:a16="http://schemas.microsoft.com/office/drawing/2014/main" id="{BCD7E842-EF91-4DBD-8CE4-8EEB4C62F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4095750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92" name="Rectangle 20">
            <a:extLst>
              <a:ext uri="{FF2B5EF4-FFF2-40B4-BE49-F238E27FC236}">
                <a16:creationId xmlns:a16="http://schemas.microsoft.com/office/drawing/2014/main" id="{2939F42E-71B3-4207-AF47-5A4CDE7CA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4124325"/>
            <a:ext cx="1801813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is_admin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관리자 권한 분기</a:t>
            </a:r>
          </a:p>
        </p:txBody>
      </p:sp>
      <p:sp>
        <p:nvSpPr>
          <p:cNvPr id="28693" name="Rectangle 21">
            <a:extLst>
              <a:ext uri="{FF2B5EF4-FFF2-40B4-BE49-F238E27FC236}">
                <a16:creationId xmlns:a16="http://schemas.microsoft.com/office/drawing/2014/main" id="{B79DCD2B-C655-4133-AD85-1B021BF1B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3" y="4389438"/>
            <a:ext cx="1882775" cy="17462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94" name="Rectangle 22">
            <a:extLst>
              <a:ext uri="{FF2B5EF4-FFF2-40B4-BE49-F238E27FC236}">
                <a16:creationId xmlns:a16="http://schemas.microsoft.com/office/drawing/2014/main" id="{0B2F4A9A-E5E7-443B-879B-F11C50B00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4443413"/>
            <a:ext cx="1846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로그인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 처리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</a:p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관리자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일반 사용자 분기 기준</a:t>
            </a:r>
          </a:p>
        </p:txBody>
      </p:sp>
      <p:sp>
        <p:nvSpPr>
          <p:cNvPr id="28695" name="Rectangle 23">
            <a:extLst>
              <a:ext uri="{FF2B5EF4-FFF2-40B4-BE49-F238E27FC236}">
                <a16:creationId xmlns:a16="http://schemas.microsoft.com/office/drawing/2014/main" id="{4B0B0941-9BB2-4D8B-AB28-B27FE3E36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2816225"/>
            <a:ext cx="2030413" cy="2176463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96" name="Rectangle 24">
            <a:extLst>
              <a:ext uri="{FF2B5EF4-FFF2-40B4-BE49-F238E27FC236}">
                <a16:creationId xmlns:a16="http://schemas.microsoft.com/office/drawing/2014/main" id="{DA2F08D9-CD2B-422A-82BD-0927B5DFB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2816225"/>
            <a:ext cx="2030413" cy="438150"/>
          </a:xfrm>
          <a:prstGeom prst="rect">
            <a:avLst/>
          </a:prstGeom>
          <a:solidFill>
            <a:srgbClr val="2D5A1B"/>
          </a:solidFill>
          <a:ln w="12600" cap="flat">
            <a:solidFill>
              <a:srgbClr val="2D5A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697" name="Rectangle 25">
            <a:extLst>
              <a:ext uri="{FF2B5EF4-FFF2-40B4-BE49-F238E27FC236}">
                <a16:creationId xmlns:a16="http://schemas.microsoft.com/office/drawing/2014/main" id="{782942C3-75C3-4A95-B132-E263774A3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2835275"/>
            <a:ext cx="1846263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latin typeface="Georgia" panose="02040502050405020303" pitchFamily="18" charset="0"/>
              </a:rPr>
              <a:t>BANK</a:t>
            </a:r>
          </a:p>
        </p:txBody>
      </p:sp>
      <p:sp>
        <p:nvSpPr>
          <p:cNvPr id="28698" name="Rectangle 26">
            <a:extLst>
              <a:ext uri="{FF2B5EF4-FFF2-40B4-BE49-F238E27FC236}">
                <a16:creationId xmlns:a16="http://schemas.microsoft.com/office/drawing/2014/main" id="{B9C064F8-FBDC-4BD5-9C50-C3775007E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071813"/>
            <a:ext cx="1846263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은행 목록 관리</a:t>
            </a:r>
          </a:p>
        </p:txBody>
      </p:sp>
      <p:sp>
        <p:nvSpPr>
          <p:cNvPr id="28699" name="Rectangle 27">
            <a:extLst>
              <a:ext uri="{FF2B5EF4-FFF2-40B4-BE49-F238E27FC236}">
                <a16:creationId xmlns:a16="http://schemas.microsoft.com/office/drawing/2014/main" id="{C82D302A-D572-4417-90C9-03E4C9EBC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328988"/>
            <a:ext cx="1846263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00" name="Rectangle 28">
            <a:extLst>
              <a:ext uri="{FF2B5EF4-FFF2-40B4-BE49-F238E27FC236}">
                <a16:creationId xmlns:a16="http://schemas.microsoft.com/office/drawing/2014/main" id="{25D16E30-1673-41B8-B7A9-28050D294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365500"/>
            <a:ext cx="236537" cy="146050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01" name="Rectangle 29">
            <a:extLst>
              <a:ext uri="{FF2B5EF4-FFF2-40B4-BE49-F238E27FC236}">
                <a16:creationId xmlns:a16="http://schemas.microsoft.com/office/drawing/2014/main" id="{73D06883-901D-4FF1-937C-76C073FB3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365500"/>
            <a:ext cx="236537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700" b="1">
                <a:solidFill>
                  <a:srgbClr val="FFFFFF"/>
                </a:solidFill>
                <a:cs typeface="Arial" panose="020B0604020202020204" pitchFamily="34" charset="0"/>
              </a:rPr>
              <a:t>PK</a:t>
            </a:r>
          </a:p>
        </p:txBody>
      </p:sp>
      <p:sp>
        <p:nvSpPr>
          <p:cNvPr id="28702" name="Rectangle 30">
            <a:extLst>
              <a:ext uri="{FF2B5EF4-FFF2-40B4-BE49-F238E27FC236}">
                <a16:creationId xmlns:a16="http://schemas.microsoft.com/office/drawing/2014/main" id="{FB376C6F-8EB8-4BE2-887A-34C6546E3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3355975"/>
            <a:ext cx="1527175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bank_code (PK)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은행 고유코드</a:t>
            </a:r>
          </a:p>
        </p:txBody>
      </p:sp>
      <p:sp>
        <p:nvSpPr>
          <p:cNvPr id="28703" name="Rectangle 31">
            <a:extLst>
              <a:ext uri="{FF2B5EF4-FFF2-40B4-BE49-F238E27FC236}">
                <a16:creationId xmlns:a16="http://schemas.microsoft.com/office/drawing/2014/main" id="{953E05CF-5B4E-4805-90E8-72F4FAF12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584575"/>
            <a:ext cx="1846263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04" name="Rectangle 32">
            <a:extLst>
              <a:ext uri="{FF2B5EF4-FFF2-40B4-BE49-F238E27FC236}">
                <a16:creationId xmlns:a16="http://schemas.microsoft.com/office/drawing/2014/main" id="{F76D433B-48D0-4B78-AC2B-6A5CE9C3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3611563"/>
            <a:ext cx="1801812" cy="17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bank_name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은행명 표시</a:t>
            </a:r>
          </a:p>
        </p:txBody>
      </p:sp>
      <p:sp>
        <p:nvSpPr>
          <p:cNvPr id="28705" name="Rectangle 33">
            <a:extLst>
              <a:ext uri="{FF2B5EF4-FFF2-40B4-BE49-F238E27FC236}">
                <a16:creationId xmlns:a16="http://schemas.microsoft.com/office/drawing/2014/main" id="{087AB0C8-CCD9-4283-8AD2-3A5694EDB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3876675"/>
            <a:ext cx="1882775" cy="17463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06" name="Rectangle 34">
            <a:extLst>
              <a:ext uri="{FF2B5EF4-FFF2-40B4-BE49-F238E27FC236}">
                <a16:creationId xmlns:a16="http://schemas.microsoft.com/office/drawing/2014/main" id="{8172CE86-8CCB-44F7-9F0B-B6C40BE99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932238"/>
            <a:ext cx="1846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허용 은행 유효성 검증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</a:p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 개설 시 선택 목록 제공</a:t>
            </a:r>
          </a:p>
        </p:txBody>
      </p:sp>
      <p:sp>
        <p:nvSpPr>
          <p:cNvPr id="28707" name="Rectangle 35">
            <a:extLst>
              <a:ext uri="{FF2B5EF4-FFF2-40B4-BE49-F238E27FC236}">
                <a16:creationId xmlns:a16="http://schemas.microsoft.com/office/drawing/2014/main" id="{C1346DD3-4C4E-4290-8FD3-155429524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816225"/>
            <a:ext cx="2030412" cy="2176463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08" name="Rectangle 36">
            <a:extLst>
              <a:ext uri="{FF2B5EF4-FFF2-40B4-BE49-F238E27FC236}">
                <a16:creationId xmlns:a16="http://schemas.microsoft.com/office/drawing/2014/main" id="{44D4B5E3-A08A-452B-8452-CBD19D315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2816225"/>
            <a:ext cx="2030412" cy="438150"/>
          </a:xfrm>
          <a:prstGeom prst="rect">
            <a:avLst/>
          </a:prstGeom>
          <a:solidFill>
            <a:srgbClr val="7A4F00"/>
          </a:solidFill>
          <a:ln w="12600" cap="flat">
            <a:solidFill>
              <a:srgbClr val="7A4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09" name="Rectangle 37">
            <a:extLst>
              <a:ext uri="{FF2B5EF4-FFF2-40B4-BE49-F238E27FC236}">
                <a16:creationId xmlns:a16="http://schemas.microsoft.com/office/drawing/2014/main" id="{F14BC41B-CC09-47A7-8B66-1213697EF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2835275"/>
            <a:ext cx="1846262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latin typeface="Georgia" panose="02040502050405020303" pitchFamily="18" charset="0"/>
              </a:rPr>
              <a:t>ACCOUNT</a:t>
            </a:r>
          </a:p>
        </p:txBody>
      </p:sp>
      <p:sp>
        <p:nvSpPr>
          <p:cNvPr id="28710" name="Rectangle 38">
            <a:extLst>
              <a:ext uri="{FF2B5EF4-FFF2-40B4-BE49-F238E27FC236}">
                <a16:creationId xmlns:a16="http://schemas.microsoft.com/office/drawing/2014/main" id="{A02C72FE-9F31-4590-ABDE-1F8DE0596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3071813"/>
            <a:ext cx="18462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 핵심 정보 저장</a:t>
            </a:r>
          </a:p>
        </p:txBody>
      </p:sp>
      <p:sp>
        <p:nvSpPr>
          <p:cNvPr id="28711" name="Rectangle 39">
            <a:extLst>
              <a:ext uri="{FF2B5EF4-FFF2-40B4-BE49-F238E27FC236}">
                <a16:creationId xmlns:a16="http://schemas.microsoft.com/office/drawing/2014/main" id="{3DD9B733-0A3D-4EDB-9719-26C44FD6D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3328988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12" name="Rectangle 40">
            <a:extLst>
              <a:ext uri="{FF2B5EF4-FFF2-40B4-BE49-F238E27FC236}">
                <a16:creationId xmlns:a16="http://schemas.microsoft.com/office/drawing/2014/main" id="{CD7AF6C8-B1AF-4A13-B915-8ACDE68F8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3365500"/>
            <a:ext cx="236538" cy="146050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13" name="Rectangle 41">
            <a:extLst>
              <a:ext uri="{FF2B5EF4-FFF2-40B4-BE49-F238E27FC236}">
                <a16:creationId xmlns:a16="http://schemas.microsoft.com/office/drawing/2014/main" id="{2B75BCB8-D62A-45C5-9044-484274A32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3365500"/>
            <a:ext cx="2365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700" b="1">
                <a:solidFill>
                  <a:srgbClr val="FFFFFF"/>
                </a:solidFill>
                <a:cs typeface="Arial" panose="020B0604020202020204" pitchFamily="34" charset="0"/>
              </a:rPr>
              <a:t>PK</a:t>
            </a:r>
          </a:p>
        </p:txBody>
      </p:sp>
      <p:sp>
        <p:nvSpPr>
          <p:cNvPr id="28714" name="Rectangle 42">
            <a:extLst>
              <a:ext uri="{FF2B5EF4-FFF2-40B4-BE49-F238E27FC236}">
                <a16:creationId xmlns:a16="http://schemas.microsoft.com/office/drawing/2014/main" id="{710E1CD5-A4CC-411C-91FA-FE4240D88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88" y="3355975"/>
            <a:ext cx="1527175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account_num (PK)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계좌번호</a:t>
            </a:r>
          </a:p>
        </p:txBody>
      </p:sp>
      <p:sp>
        <p:nvSpPr>
          <p:cNvPr id="28715" name="Rectangle 43">
            <a:extLst>
              <a:ext uri="{FF2B5EF4-FFF2-40B4-BE49-F238E27FC236}">
                <a16:creationId xmlns:a16="http://schemas.microsoft.com/office/drawing/2014/main" id="{7895134A-1CAE-4BDD-B9E7-2253D84F6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3584575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16" name="Rectangle 44">
            <a:extLst>
              <a:ext uri="{FF2B5EF4-FFF2-40B4-BE49-F238E27FC236}">
                <a16:creationId xmlns:a16="http://schemas.microsoft.com/office/drawing/2014/main" id="{A58F3879-7B6F-4A4E-B296-36F789AFF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3621088"/>
            <a:ext cx="236538" cy="146050"/>
          </a:xfrm>
          <a:prstGeom prst="rect">
            <a:avLst/>
          </a:prstGeom>
          <a:solidFill>
            <a:srgbClr val="1D6A3A"/>
          </a:solidFill>
          <a:ln w="12600" cap="flat">
            <a:solidFill>
              <a:srgbClr val="1D6A3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17" name="Rectangle 45">
            <a:extLst>
              <a:ext uri="{FF2B5EF4-FFF2-40B4-BE49-F238E27FC236}">
                <a16:creationId xmlns:a16="http://schemas.microsoft.com/office/drawing/2014/main" id="{2620A2E5-79D2-433E-8A1B-6B63F8E18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3621088"/>
            <a:ext cx="2365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700" b="1">
                <a:solidFill>
                  <a:srgbClr val="FFFFFF"/>
                </a:solidFill>
                <a:cs typeface="Arial" panose="020B0604020202020204" pitchFamily="34" charset="0"/>
              </a:rPr>
              <a:t>FK</a:t>
            </a:r>
          </a:p>
        </p:txBody>
      </p:sp>
      <p:sp>
        <p:nvSpPr>
          <p:cNvPr id="28718" name="Rectangle 46">
            <a:extLst>
              <a:ext uri="{FF2B5EF4-FFF2-40B4-BE49-F238E27FC236}">
                <a16:creationId xmlns:a16="http://schemas.microsoft.com/office/drawing/2014/main" id="{69DED3B4-B0EC-42B7-A782-AC796E871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88" y="3611563"/>
            <a:ext cx="1527175" cy="17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user_id (FK) → USER</a:t>
            </a:r>
          </a:p>
        </p:txBody>
      </p:sp>
      <p:sp>
        <p:nvSpPr>
          <p:cNvPr id="28719" name="Rectangle 47">
            <a:extLst>
              <a:ext uri="{FF2B5EF4-FFF2-40B4-BE49-F238E27FC236}">
                <a16:creationId xmlns:a16="http://schemas.microsoft.com/office/drawing/2014/main" id="{6FA8723A-DFB6-456E-B957-4AE54B4B2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3840163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20" name="Rectangle 48">
            <a:extLst>
              <a:ext uri="{FF2B5EF4-FFF2-40B4-BE49-F238E27FC236}">
                <a16:creationId xmlns:a16="http://schemas.microsoft.com/office/drawing/2014/main" id="{AA621693-FA3A-40B3-8F1E-84FAA6534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3876675"/>
            <a:ext cx="236538" cy="146050"/>
          </a:xfrm>
          <a:prstGeom prst="rect">
            <a:avLst/>
          </a:prstGeom>
          <a:solidFill>
            <a:srgbClr val="1D6A3A"/>
          </a:solidFill>
          <a:ln w="12600" cap="flat">
            <a:solidFill>
              <a:srgbClr val="1D6A3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21" name="Rectangle 49">
            <a:extLst>
              <a:ext uri="{FF2B5EF4-FFF2-40B4-BE49-F238E27FC236}">
                <a16:creationId xmlns:a16="http://schemas.microsoft.com/office/drawing/2014/main" id="{4116B459-F037-401A-AF6E-2CF32D7C0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3876675"/>
            <a:ext cx="2365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700" b="1">
                <a:solidFill>
                  <a:srgbClr val="FFFFFF"/>
                </a:solidFill>
                <a:cs typeface="Arial" panose="020B0604020202020204" pitchFamily="34" charset="0"/>
              </a:rPr>
              <a:t>FK</a:t>
            </a:r>
          </a:p>
        </p:txBody>
      </p:sp>
      <p:sp>
        <p:nvSpPr>
          <p:cNvPr id="28722" name="Rectangle 50">
            <a:extLst>
              <a:ext uri="{FF2B5EF4-FFF2-40B4-BE49-F238E27FC236}">
                <a16:creationId xmlns:a16="http://schemas.microsoft.com/office/drawing/2014/main" id="{DB450824-EDE6-483C-9825-790CB905C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88" y="3867150"/>
            <a:ext cx="1527175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bank_code (FK) → BANK</a:t>
            </a:r>
          </a:p>
        </p:txBody>
      </p:sp>
      <p:sp>
        <p:nvSpPr>
          <p:cNvPr id="28723" name="Rectangle 51">
            <a:extLst>
              <a:ext uri="{FF2B5EF4-FFF2-40B4-BE49-F238E27FC236}">
                <a16:creationId xmlns:a16="http://schemas.microsoft.com/office/drawing/2014/main" id="{1E277C82-FC6D-4BA7-8902-A576F066D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4095750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24" name="Rectangle 52">
            <a:extLst>
              <a:ext uri="{FF2B5EF4-FFF2-40B4-BE49-F238E27FC236}">
                <a16:creationId xmlns:a16="http://schemas.microsoft.com/office/drawing/2014/main" id="{B06537C4-0981-4B34-92FB-2D182D762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4124325"/>
            <a:ext cx="1801813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balance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잔액</a:t>
            </a:r>
          </a:p>
        </p:txBody>
      </p:sp>
      <p:sp>
        <p:nvSpPr>
          <p:cNvPr id="28725" name="Rectangle 53">
            <a:extLst>
              <a:ext uri="{FF2B5EF4-FFF2-40B4-BE49-F238E27FC236}">
                <a16:creationId xmlns:a16="http://schemas.microsoft.com/office/drawing/2014/main" id="{2C3DEAEE-7407-4525-8B08-3D7B1ACD1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4352925"/>
            <a:ext cx="1846262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26" name="Rectangle 54">
            <a:extLst>
              <a:ext uri="{FF2B5EF4-FFF2-40B4-BE49-F238E27FC236}">
                <a16:creationId xmlns:a16="http://schemas.microsoft.com/office/drawing/2014/main" id="{13D2C4F5-E563-4CA9-9E54-0057F873E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4379913"/>
            <a:ext cx="1801813" cy="17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alias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 별칭</a:t>
            </a:r>
          </a:p>
        </p:txBody>
      </p:sp>
      <p:sp>
        <p:nvSpPr>
          <p:cNvPr id="28727" name="Rectangle 55">
            <a:extLst>
              <a:ext uri="{FF2B5EF4-FFF2-40B4-BE49-F238E27FC236}">
                <a16:creationId xmlns:a16="http://schemas.microsoft.com/office/drawing/2014/main" id="{3F419268-DB34-4EFE-85AD-2FC26BAC6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4645025"/>
            <a:ext cx="1882775" cy="17463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28" name="Rectangle 56">
            <a:extLst>
              <a:ext uri="{FF2B5EF4-FFF2-40B4-BE49-F238E27FC236}">
                <a16:creationId xmlns:a16="http://schemas.microsoft.com/office/drawing/2014/main" id="{41D7B596-4F08-440E-9B70-5A2A55712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4700588"/>
            <a:ext cx="1846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입출금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대상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</a:p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별칭 검색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zh-CN" altLang="ko-KR" sz="9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수정의 기준 테이블</a:t>
            </a:r>
          </a:p>
        </p:txBody>
      </p:sp>
      <p:sp>
        <p:nvSpPr>
          <p:cNvPr id="28729" name="Rectangle 57">
            <a:extLst>
              <a:ext uri="{FF2B5EF4-FFF2-40B4-BE49-F238E27FC236}">
                <a16:creationId xmlns:a16="http://schemas.microsoft.com/office/drawing/2014/main" id="{F41392AE-A71B-42D9-A927-0AE8393A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2816225"/>
            <a:ext cx="2030413" cy="2176463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30" name="Rectangle 58">
            <a:extLst>
              <a:ext uri="{FF2B5EF4-FFF2-40B4-BE49-F238E27FC236}">
                <a16:creationId xmlns:a16="http://schemas.microsoft.com/office/drawing/2014/main" id="{E9EA0184-42CD-4C7E-9977-61F9D9596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2816225"/>
            <a:ext cx="2030413" cy="438150"/>
          </a:xfrm>
          <a:prstGeom prst="rect">
            <a:avLst/>
          </a:prstGeom>
          <a:solidFill>
            <a:srgbClr val="7A1515"/>
          </a:solidFill>
          <a:ln w="12600" cap="flat">
            <a:solidFill>
              <a:srgbClr val="7A1515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31" name="Rectangle 59">
            <a:extLst>
              <a:ext uri="{FF2B5EF4-FFF2-40B4-BE49-F238E27FC236}">
                <a16:creationId xmlns:a16="http://schemas.microsoft.com/office/drawing/2014/main" id="{E0D6DCE7-981F-4DAD-A87C-4B07A80AA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835275"/>
            <a:ext cx="1846263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400" b="1">
                <a:solidFill>
                  <a:srgbClr val="FFFFFF"/>
                </a:solidFill>
                <a:latin typeface="Georgia" panose="02040502050405020303" pitchFamily="18" charset="0"/>
              </a:rPr>
              <a:t>TRANSACTION</a:t>
            </a:r>
          </a:p>
        </p:txBody>
      </p:sp>
      <p:sp>
        <p:nvSpPr>
          <p:cNvPr id="28732" name="Rectangle 60">
            <a:extLst>
              <a:ext uri="{FF2B5EF4-FFF2-40B4-BE49-F238E27FC236}">
                <a16:creationId xmlns:a16="http://schemas.microsoft.com/office/drawing/2014/main" id="{857109FF-F4A1-4F46-AF54-AEE38808A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071813"/>
            <a:ext cx="1846263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900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거래내역 기록 </a:t>
            </a:r>
            <a:r>
              <a:rPr lang="en-US" altLang="ko-KR" sz="900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</a:t>
            </a:r>
            <a:r>
              <a:rPr lang="zh-CN" altLang="ko-KR" sz="900">
                <a:solidFill>
                  <a:srgbClr val="F0D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조회</a:t>
            </a:r>
          </a:p>
        </p:txBody>
      </p:sp>
      <p:sp>
        <p:nvSpPr>
          <p:cNvPr id="28733" name="Rectangle 61">
            <a:extLst>
              <a:ext uri="{FF2B5EF4-FFF2-40B4-BE49-F238E27FC236}">
                <a16:creationId xmlns:a16="http://schemas.microsoft.com/office/drawing/2014/main" id="{0F581263-BBBF-439E-92FB-5CC4A67FC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328988"/>
            <a:ext cx="1846263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34" name="Rectangle 62">
            <a:extLst>
              <a:ext uri="{FF2B5EF4-FFF2-40B4-BE49-F238E27FC236}">
                <a16:creationId xmlns:a16="http://schemas.microsoft.com/office/drawing/2014/main" id="{0577B8A8-73EA-4AE8-B7C8-5D2E25885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365500"/>
            <a:ext cx="236537" cy="146050"/>
          </a:xfrm>
          <a:prstGeom prst="rect">
            <a:avLst/>
          </a:prstGeom>
          <a:solidFill>
            <a:srgbClr val="1B3A6B"/>
          </a:solidFill>
          <a:ln w="12600" cap="flat">
            <a:solidFill>
              <a:srgbClr val="1B3A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35" name="Rectangle 63">
            <a:extLst>
              <a:ext uri="{FF2B5EF4-FFF2-40B4-BE49-F238E27FC236}">
                <a16:creationId xmlns:a16="http://schemas.microsoft.com/office/drawing/2014/main" id="{3CD50FB6-31B3-479B-9A22-99D154EDC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365500"/>
            <a:ext cx="236537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700" b="1">
                <a:solidFill>
                  <a:srgbClr val="FFFFFF"/>
                </a:solidFill>
                <a:cs typeface="Arial" panose="020B0604020202020204" pitchFamily="34" charset="0"/>
              </a:rPr>
              <a:t>PK</a:t>
            </a:r>
          </a:p>
        </p:txBody>
      </p:sp>
      <p:sp>
        <p:nvSpPr>
          <p:cNvPr id="28736" name="Rectangle 64">
            <a:extLst>
              <a:ext uri="{FF2B5EF4-FFF2-40B4-BE49-F238E27FC236}">
                <a16:creationId xmlns:a16="http://schemas.microsoft.com/office/drawing/2014/main" id="{305AD08B-8B6F-4307-A132-531837F35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150" y="3355975"/>
            <a:ext cx="1527175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transaction_id (PK)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증가</a:t>
            </a:r>
          </a:p>
        </p:txBody>
      </p:sp>
      <p:sp>
        <p:nvSpPr>
          <p:cNvPr id="28737" name="Rectangle 65">
            <a:extLst>
              <a:ext uri="{FF2B5EF4-FFF2-40B4-BE49-F238E27FC236}">
                <a16:creationId xmlns:a16="http://schemas.microsoft.com/office/drawing/2014/main" id="{4680A7CA-5661-455F-85F7-9DE34D0E2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584575"/>
            <a:ext cx="1846263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38" name="Rectangle 66">
            <a:extLst>
              <a:ext uri="{FF2B5EF4-FFF2-40B4-BE49-F238E27FC236}">
                <a16:creationId xmlns:a16="http://schemas.microsoft.com/office/drawing/2014/main" id="{62EDE0D6-851F-49D6-BACA-18DA6B9C3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621088"/>
            <a:ext cx="236537" cy="146050"/>
          </a:xfrm>
          <a:prstGeom prst="rect">
            <a:avLst/>
          </a:prstGeom>
          <a:solidFill>
            <a:srgbClr val="1D6A3A"/>
          </a:solidFill>
          <a:ln w="12600" cap="flat">
            <a:solidFill>
              <a:srgbClr val="1D6A3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39" name="Rectangle 67">
            <a:extLst>
              <a:ext uri="{FF2B5EF4-FFF2-40B4-BE49-F238E27FC236}">
                <a16:creationId xmlns:a16="http://schemas.microsoft.com/office/drawing/2014/main" id="{3FA48BD5-424B-4736-B0ED-BDA11249E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621088"/>
            <a:ext cx="236537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700" b="1">
                <a:solidFill>
                  <a:srgbClr val="FFFFFF"/>
                </a:solidFill>
                <a:cs typeface="Arial" panose="020B0604020202020204" pitchFamily="34" charset="0"/>
              </a:rPr>
              <a:t>FK</a:t>
            </a:r>
          </a:p>
        </p:txBody>
      </p:sp>
      <p:sp>
        <p:nvSpPr>
          <p:cNvPr id="28740" name="Rectangle 68">
            <a:extLst>
              <a:ext uri="{FF2B5EF4-FFF2-40B4-BE49-F238E27FC236}">
                <a16:creationId xmlns:a16="http://schemas.microsoft.com/office/drawing/2014/main" id="{697F3411-1685-48AE-AE1F-85AA9E6F7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150" y="3611563"/>
            <a:ext cx="1527175" cy="17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account_num (FK) → ACCOUNT</a:t>
            </a:r>
          </a:p>
        </p:txBody>
      </p:sp>
      <p:sp>
        <p:nvSpPr>
          <p:cNvPr id="28741" name="Rectangle 69">
            <a:extLst>
              <a:ext uri="{FF2B5EF4-FFF2-40B4-BE49-F238E27FC236}">
                <a16:creationId xmlns:a16="http://schemas.microsoft.com/office/drawing/2014/main" id="{4211BCD1-CB41-4EB4-8573-80353ECD3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840163"/>
            <a:ext cx="1846263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42" name="Rectangle 70">
            <a:extLst>
              <a:ext uri="{FF2B5EF4-FFF2-40B4-BE49-F238E27FC236}">
                <a16:creationId xmlns:a16="http://schemas.microsoft.com/office/drawing/2014/main" id="{4F82962F-FD65-40D4-98A7-578118C4D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3867150"/>
            <a:ext cx="1801813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type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입금</a:t>
            </a: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출금</a:t>
            </a: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</a:t>
            </a:r>
          </a:p>
        </p:txBody>
      </p:sp>
      <p:sp>
        <p:nvSpPr>
          <p:cNvPr id="28743" name="Rectangle 71">
            <a:extLst>
              <a:ext uri="{FF2B5EF4-FFF2-40B4-BE49-F238E27FC236}">
                <a16:creationId xmlns:a16="http://schemas.microsoft.com/office/drawing/2014/main" id="{0D057ECC-A65E-4075-83BC-D75182A79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095750"/>
            <a:ext cx="1846263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44" name="Rectangle 72">
            <a:extLst>
              <a:ext uri="{FF2B5EF4-FFF2-40B4-BE49-F238E27FC236}">
                <a16:creationId xmlns:a16="http://schemas.microsoft.com/office/drawing/2014/main" id="{CB0AD038-A200-452F-B15C-68D8D2FD1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4124325"/>
            <a:ext cx="1801813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amount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거래 금액</a:t>
            </a:r>
          </a:p>
        </p:txBody>
      </p:sp>
      <p:sp>
        <p:nvSpPr>
          <p:cNvPr id="28745" name="Rectangle 73">
            <a:extLst>
              <a:ext uri="{FF2B5EF4-FFF2-40B4-BE49-F238E27FC236}">
                <a16:creationId xmlns:a16="http://schemas.microsoft.com/office/drawing/2014/main" id="{EBD4F4F3-426E-4D99-B236-79E0B7B86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352925"/>
            <a:ext cx="1846263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46" name="Rectangle 74">
            <a:extLst>
              <a:ext uri="{FF2B5EF4-FFF2-40B4-BE49-F238E27FC236}">
                <a16:creationId xmlns:a16="http://schemas.microsoft.com/office/drawing/2014/main" id="{F32E6C2A-E7B6-4211-A867-E7D1E8FE0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4379913"/>
            <a:ext cx="1801813" cy="17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balance_after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처리 후 잔액</a:t>
            </a:r>
          </a:p>
        </p:txBody>
      </p:sp>
      <p:sp>
        <p:nvSpPr>
          <p:cNvPr id="28747" name="Rectangle 75">
            <a:extLst>
              <a:ext uri="{FF2B5EF4-FFF2-40B4-BE49-F238E27FC236}">
                <a16:creationId xmlns:a16="http://schemas.microsoft.com/office/drawing/2014/main" id="{8E433B16-DA0F-485B-B5B5-28549799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608513"/>
            <a:ext cx="1846263" cy="219075"/>
          </a:xfrm>
          <a:prstGeom prst="rect">
            <a:avLst/>
          </a:prstGeom>
          <a:solidFill>
            <a:srgbClr val="FAFAFA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48" name="Rectangle 76">
            <a:extLst>
              <a:ext uri="{FF2B5EF4-FFF2-40B4-BE49-F238E27FC236}">
                <a16:creationId xmlns:a16="http://schemas.microsoft.com/office/drawing/2014/main" id="{4CB264D3-AECF-4C1D-AAF1-57ABDCDFD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4635500"/>
            <a:ext cx="1801813" cy="17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date — </a:t>
            </a:r>
            <a:r>
              <a:rPr lang="zh-CN" altLang="ko-KR" sz="9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거래 일시</a:t>
            </a:r>
          </a:p>
        </p:txBody>
      </p:sp>
      <p:sp>
        <p:nvSpPr>
          <p:cNvPr id="28749" name="Rectangle 77">
            <a:extLst>
              <a:ext uri="{FF2B5EF4-FFF2-40B4-BE49-F238E27FC236}">
                <a16:creationId xmlns:a16="http://schemas.microsoft.com/office/drawing/2014/main" id="{2239C259-A1E4-4CE0-8EAA-003BB404D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900613"/>
            <a:ext cx="1882775" cy="17462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750" name="Rectangle 78">
            <a:extLst>
              <a:ext uri="{FF2B5EF4-FFF2-40B4-BE49-F238E27FC236}">
                <a16:creationId xmlns:a16="http://schemas.microsoft.com/office/drawing/2014/main" id="{6668D31E-E8BE-4FBA-B8D5-E32ED2473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727575"/>
            <a:ext cx="1846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9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입출금</a:t>
            </a:r>
            <a:r>
              <a:rPr lang="en-US" altLang="ko-KR" sz="9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zh-CN" altLang="ko-KR" sz="9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이력 누적</a:t>
            </a:r>
            <a:r>
              <a:rPr lang="en-US" altLang="ko-KR" sz="9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</a:p>
          <a:p>
            <a:pPr hangingPunct="1">
              <a:lnSpc>
                <a:spcPct val="100000"/>
              </a:lnSpc>
            </a:pPr>
            <a:r>
              <a:rPr lang="zh-CN" altLang="ko-KR" sz="900" dirty="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거래내역 조회 기능의 데이터 원천</a:t>
            </a:r>
          </a:p>
        </p:txBody>
      </p:sp>
      <p:sp>
        <p:nvSpPr>
          <p:cNvPr id="28751" name="Rectangle 79">
            <a:extLst>
              <a:ext uri="{FF2B5EF4-FFF2-40B4-BE49-F238E27FC236}">
                <a16:creationId xmlns:a16="http://schemas.microsoft.com/office/drawing/2014/main" id="{B97B32EB-FD29-4058-AB04-4779DEBAE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246438"/>
            <a:ext cx="420688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 b="1" dirty="0">
                <a:solidFill>
                  <a:srgbClr val="C9A84C"/>
                </a:solidFill>
                <a:latin typeface="Georgia" panose="02040502050405020303" pitchFamily="18" charset="0"/>
              </a:rPr>
              <a:t>  1:N</a:t>
            </a:r>
          </a:p>
          <a:p>
            <a:pPr hangingPunct="1">
              <a:lnSpc>
                <a:spcPct val="100000"/>
              </a:lnSpc>
            </a:pPr>
            <a:r>
              <a:rPr lang="en-US" altLang="zh-CN" sz="900" b="1" dirty="0">
                <a:solidFill>
                  <a:srgbClr val="C9A84C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 </a:t>
            </a:r>
            <a:r>
              <a:rPr lang="zh-CN" altLang="ko-KR" sz="900" b="1" dirty="0">
                <a:solidFill>
                  <a:srgbClr val="C9A84C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소유</a:t>
            </a:r>
          </a:p>
        </p:txBody>
      </p:sp>
      <p:sp>
        <p:nvSpPr>
          <p:cNvPr id="28752" name="Rectangle 80">
            <a:extLst>
              <a:ext uri="{FF2B5EF4-FFF2-40B4-BE49-F238E27FC236}">
                <a16:creationId xmlns:a16="http://schemas.microsoft.com/office/drawing/2014/main" id="{40FF334A-FBE0-4CED-8ADE-DB33EFB1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3246438"/>
            <a:ext cx="420687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 b="1" dirty="0">
                <a:solidFill>
                  <a:srgbClr val="C9A84C"/>
                </a:solidFill>
                <a:latin typeface="Georgia" panose="02040502050405020303" pitchFamily="18" charset="0"/>
              </a:rPr>
              <a:t>  1:N</a:t>
            </a:r>
          </a:p>
          <a:p>
            <a:pPr hangingPunct="1">
              <a:lnSpc>
                <a:spcPct val="100000"/>
              </a:lnSpc>
            </a:pPr>
            <a:r>
              <a:rPr lang="en-US" altLang="zh-CN" sz="900" b="1" dirty="0">
                <a:solidFill>
                  <a:srgbClr val="C9A84C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  </a:t>
            </a:r>
            <a:r>
              <a:rPr lang="zh-CN" altLang="ko-KR" sz="900" b="1" dirty="0">
                <a:solidFill>
                  <a:srgbClr val="C9A84C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제공</a:t>
            </a:r>
          </a:p>
        </p:txBody>
      </p:sp>
      <p:sp>
        <p:nvSpPr>
          <p:cNvPr id="28753" name="Rectangle 81">
            <a:extLst>
              <a:ext uri="{FF2B5EF4-FFF2-40B4-BE49-F238E27FC236}">
                <a16:creationId xmlns:a16="http://schemas.microsoft.com/office/drawing/2014/main" id="{F75AC548-8C7E-44CE-999E-98D5680AA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3246438"/>
            <a:ext cx="420688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900" b="1" dirty="0">
                <a:solidFill>
                  <a:srgbClr val="C9A84C"/>
                </a:solidFill>
                <a:latin typeface="Georgia" panose="02040502050405020303" pitchFamily="18" charset="0"/>
              </a:rPr>
              <a:t>  1:N</a:t>
            </a:r>
          </a:p>
          <a:p>
            <a:pPr hangingPunct="1">
              <a:lnSpc>
                <a:spcPct val="100000"/>
              </a:lnSpc>
            </a:pPr>
            <a:r>
              <a:rPr lang="en-US" altLang="zh-CN" sz="900" b="1" dirty="0">
                <a:solidFill>
                  <a:srgbClr val="C9A84C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 </a:t>
            </a:r>
            <a:r>
              <a:rPr lang="zh-CN" altLang="ko-KR" sz="900" b="1" dirty="0">
                <a:solidFill>
                  <a:srgbClr val="C9A84C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발생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303CD0-6CAB-4442-ADBE-D733CE037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571500"/>
            <a:ext cx="7272808" cy="221773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9FCA88E5-C424-4922-860C-65D8354B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65100"/>
            <a:ext cx="53975" cy="59372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C2A632EC-0E82-41B1-B3B0-134A9A560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095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2800" b="1" dirty="0">
                <a:solidFill>
                  <a:srgbClr val="0D2149"/>
                </a:solidFill>
                <a:latin typeface="Georgia" panose="02040502050405020303" pitchFamily="18" charset="0"/>
              </a:rPr>
              <a:t>DEVELOPMENT PROCESS: </a:t>
            </a:r>
            <a:r>
              <a:rPr lang="zh-CN" altLang="ko-KR" sz="2800" b="1" dirty="0">
                <a:solidFill>
                  <a:srgbClr val="0D2149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입출력 구현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C6080DF-37A5-47A9-80A0-343B1A513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4892675"/>
            <a:ext cx="1096962" cy="53975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5" name="AutoShape 5">
            <a:extLst>
              <a:ext uri="{FF2B5EF4-FFF2-40B4-BE49-F238E27FC236}">
                <a16:creationId xmlns:a16="http://schemas.microsoft.com/office/drawing/2014/main" id="{38AB4C96-AAC1-4A66-A548-712296C7A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963" y="2149475"/>
            <a:ext cx="1096962" cy="1096963"/>
          </a:xfrm>
          <a:custGeom>
            <a:avLst/>
            <a:gdLst>
              <a:gd name="G0" fmla="*/ 3048 1 2"/>
              <a:gd name="G1" fmla="*/ 1 48365 11520"/>
              <a:gd name="G2" fmla="*/ G1 32767 1"/>
              <a:gd name="G3" fmla="*/ G2 1 32767"/>
              <a:gd name="G4" fmla="cos G0 G3"/>
              <a:gd name="G5" fmla="*/ 3048 1 2"/>
              <a:gd name="G6" fmla="*/ 1 48365 11520"/>
              <a:gd name="G7" fmla="*/ G6 32767 1"/>
              <a:gd name="G8" fmla="*/ G7 1 32767"/>
              <a:gd name="G9" fmla="sin G5 G8"/>
              <a:gd name="G10" fmla="*/ 3048 1 2"/>
              <a:gd name="G11" fmla="+- G10 0 G4"/>
              <a:gd name="G12" fmla="+- G10 G4 0"/>
              <a:gd name="G13" fmla="+- G12 0 0"/>
              <a:gd name="G14" fmla="*/ 3048 1 2"/>
              <a:gd name="G15" fmla="+- G14 0 G9"/>
              <a:gd name="G16" fmla="+- G14 G9 0"/>
              <a:gd name="G17" fmla="+- G16 0 0"/>
              <a:gd name="G18" fmla="+- 3048 0 0"/>
              <a:gd name="G19" fmla="+- 30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524"/>
                </a:moveTo>
                <a:lnTo>
                  <a:pt x="1524" y="1524"/>
                </a:lnTo>
                <a:lnTo>
                  <a:pt x="180" y="90"/>
                </a:lnTo>
                <a:lnTo>
                  <a:pt x="1524" y="1524"/>
                </a:lnTo>
                <a:lnTo>
                  <a:pt x="270" y="90"/>
                </a:lnTo>
                <a:close/>
              </a:path>
            </a:pathLst>
          </a:custGeom>
          <a:solidFill>
            <a:srgbClr val="1E3A6E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02F43403-BE81-40A5-85D8-9D1A8EE17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963" y="2149475"/>
            <a:ext cx="1096962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2800">
                <a:solidFill>
                  <a:srgbClr val="F0D080"/>
                </a:solidFill>
                <a:cs typeface="Arial" panose="020B0604020202020204" pitchFamily="34" charset="0"/>
              </a:rPr>
              <a:t>▶</a:t>
            </a: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819777B6-A4A2-445B-802A-2B37F532F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475" y="1006475"/>
            <a:ext cx="3382963" cy="329088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51D86EAE-76BD-4443-BBD5-6580945AC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475" y="1006475"/>
            <a:ext cx="3382963" cy="63500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75511E51-227B-4951-B6F2-1DDA0FA93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116013"/>
            <a:ext cx="3108325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3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영상 주요 내용</a:t>
            </a:r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7C4540F5-85E7-4131-ABB1-C3EDECCF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1573213"/>
            <a:ext cx="411162" cy="411162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2557A556-4DF3-4C0B-8CD0-4C5857569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1573213"/>
            <a:ext cx="411162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100" b="1">
                <a:solidFill>
                  <a:srgbClr val="C9A84C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9F3EBC1C-7C18-410F-BC32-5181C425D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590675"/>
            <a:ext cx="2605088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콘솔 입출력 구조</a:t>
            </a:r>
          </a:p>
          <a:p>
            <a:pPr hangingPunct="1">
              <a:lnSpc>
                <a:spcPct val="100000"/>
              </a:lnSpc>
            </a:pPr>
            <a:r>
              <a:rPr lang="zh-CN" altLang="ko-KR" sz="11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메뉴 선택 → 기능 실행</a:t>
            </a:r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C923618D-DEFF-43EA-B81B-CFB63C79F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232025"/>
            <a:ext cx="3062288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5" name="Rectangle 15">
            <a:extLst>
              <a:ext uri="{FF2B5EF4-FFF2-40B4-BE49-F238E27FC236}">
                <a16:creationId xmlns:a16="http://schemas.microsoft.com/office/drawing/2014/main" id="{D9C0B7CE-B0D6-4D0E-9A73-BB83E4CC5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2487613"/>
            <a:ext cx="411162" cy="411162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6" name="Rectangle 16">
            <a:extLst>
              <a:ext uri="{FF2B5EF4-FFF2-40B4-BE49-F238E27FC236}">
                <a16:creationId xmlns:a16="http://schemas.microsoft.com/office/drawing/2014/main" id="{5D85FF6A-32D9-442C-9467-5A841E13B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2487613"/>
            <a:ext cx="411162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100" b="1">
                <a:solidFill>
                  <a:srgbClr val="C9A84C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25617" name="Rectangle 17">
            <a:extLst>
              <a:ext uri="{FF2B5EF4-FFF2-40B4-BE49-F238E27FC236}">
                <a16:creationId xmlns:a16="http://schemas.microsoft.com/office/drawing/2014/main" id="{39FF0D73-5EA2-4FF4-B322-C340E6121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505075"/>
            <a:ext cx="2605088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계좌 생성 과정</a:t>
            </a:r>
          </a:p>
          <a:p>
            <a:pPr hangingPunct="1">
              <a:lnSpc>
                <a:spcPct val="100000"/>
              </a:lnSpc>
            </a:pPr>
            <a:r>
              <a:rPr lang="zh-CN" altLang="ko-KR" sz="11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은행 선택 → 초기 입금</a:t>
            </a:r>
          </a:p>
        </p:txBody>
      </p:sp>
      <p:sp>
        <p:nvSpPr>
          <p:cNvPr id="25618" name="Rectangle 18">
            <a:extLst>
              <a:ext uri="{FF2B5EF4-FFF2-40B4-BE49-F238E27FC236}">
                <a16:creationId xmlns:a16="http://schemas.microsoft.com/office/drawing/2014/main" id="{263F2E7C-0474-4AD4-A1A2-7A51FEFDB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146425"/>
            <a:ext cx="3062288" cy="17463"/>
          </a:xfrm>
          <a:prstGeom prst="rect">
            <a:avLst/>
          </a:prstGeom>
          <a:solidFill>
            <a:srgbClr val="E2E8F0"/>
          </a:solidFill>
          <a:ln w="12600" cap="flat">
            <a:solidFill>
              <a:srgbClr val="E2E8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19" name="Rectangle 19">
            <a:extLst>
              <a:ext uri="{FF2B5EF4-FFF2-40B4-BE49-F238E27FC236}">
                <a16:creationId xmlns:a16="http://schemas.microsoft.com/office/drawing/2014/main" id="{7CF08961-88D1-4BFD-A3D0-928A06E87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402013"/>
            <a:ext cx="411162" cy="411162"/>
          </a:xfrm>
          <a:prstGeom prst="rect">
            <a:avLst/>
          </a:prstGeom>
          <a:solidFill>
            <a:srgbClr val="0D2149"/>
          </a:solidFill>
          <a:ln w="12600" cap="flat">
            <a:solidFill>
              <a:srgbClr val="0D214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620" name="Rectangle 20">
            <a:extLst>
              <a:ext uri="{FF2B5EF4-FFF2-40B4-BE49-F238E27FC236}">
                <a16:creationId xmlns:a16="http://schemas.microsoft.com/office/drawing/2014/main" id="{0CFF3AFD-ABEC-48E8-BD72-20D3C3111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402013"/>
            <a:ext cx="411162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1100" b="1">
                <a:solidFill>
                  <a:srgbClr val="C9A84C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25621" name="Rectangle 21">
            <a:extLst>
              <a:ext uri="{FF2B5EF4-FFF2-40B4-BE49-F238E27FC236}">
                <a16:creationId xmlns:a16="http://schemas.microsoft.com/office/drawing/2014/main" id="{B2E1B0C8-95DE-49AF-B504-59F6143A1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19475"/>
            <a:ext cx="2605088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1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이체 실행 과정</a:t>
            </a:r>
          </a:p>
          <a:p>
            <a:pPr hangingPunct="1">
              <a:lnSpc>
                <a:spcPct val="100000"/>
              </a:lnSpc>
            </a:pPr>
            <a:r>
              <a:rPr lang="zh-CN" altLang="ko-KR" sz="110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 → 출금 → 입금</a:t>
            </a:r>
          </a:p>
        </p:txBody>
      </p:sp>
      <p:pic>
        <p:nvPicPr>
          <p:cNvPr id="2" name="통합 계좌 시스템">
            <a:hlinkClick r:id="" action="ppaction://media"/>
            <a:extLst>
              <a:ext uri="{FF2B5EF4-FFF2-40B4-BE49-F238E27FC236}">
                <a16:creationId xmlns:a16="http://schemas.microsoft.com/office/drawing/2014/main" id="{54D8F0CC-3F13-4B68-83A6-916F138553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7936" y="842169"/>
            <a:ext cx="5112914" cy="388982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2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>
            <a:extLst>
              <a:ext uri="{FF2B5EF4-FFF2-40B4-BE49-F238E27FC236}">
                <a16:creationId xmlns:a16="http://schemas.microsoft.com/office/drawing/2014/main" id="{482E97B8-9C77-4D59-9CC6-11B59A008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5125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ko-KR" sz="7200" b="1">
                <a:solidFill>
                  <a:srgbClr val="C9A84C"/>
                </a:solidFill>
                <a:latin typeface="Georgia" panose="02040502050405020303" pitchFamily="18" charset="0"/>
              </a:rPr>
              <a:t>Q &amp; A</a:t>
            </a: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FFA2A77-DC7B-4FE9-8E37-C1606898A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22" y="1707356"/>
            <a:ext cx="822960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ko-KR" sz="20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감사합니다</a:t>
            </a:r>
            <a:r>
              <a:rPr lang="en-US" altLang="ko-KR" sz="20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zh-CN" altLang="ko-KR" sz="20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질문 있으시면 말씀해 주세요</a:t>
            </a:r>
            <a:r>
              <a:rPr lang="en-US" altLang="ko-KR" sz="2000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23786E6-BB28-473A-894F-0304FC1C5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406650"/>
            <a:ext cx="7315200" cy="2011362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round/>
            <a:headEnd/>
            <a:tailEnd/>
          </a:ln>
          <a:effectLst>
            <a:outerShdw dist="25456" dir="8100000" algn="ctr" rotWithShape="0">
              <a:srgbClr val="000000">
                <a:alpha val="10049"/>
              </a:srgbClr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EB2D040C-CBF3-4E9C-A4B0-98A80314A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2651125"/>
            <a:ext cx="68580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ko-KR" sz="1500" b="1">
                <a:solidFill>
                  <a:srgbClr val="0D214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향후 개선 방향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42E03DC8-FA23-473E-8B84-36D2B1FB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3219822"/>
            <a:ext cx="6858000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3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sz="13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비밀번호 횟수 제한</a:t>
            </a:r>
            <a:endParaRPr lang="zh-CN" altLang="ko-KR" sz="1300" dirty="0">
              <a:solidFill>
                <a:srgbClr val="4444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C2C67758-8192-4918-9E0F-B9D1B1F2C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180" y="3822700"/>
            <a:ext cx="6858000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ko-KR" sz="13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sz="1300" dirty="0">
                <a:solidFill>
                  <a:srgbClr val="4444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인터페이스 개선</a:t>
            </a:r>
            <a:endParaRPr lang="zh-CN" altLang="ko-KR" sz="1300" dirty="0">
              <a:solidFill>
                <a:srgbClr val="4444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60A18140-B8CA-4198-9875-8CE496963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3822700"/>
            <a:ext cx="685800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endParaRPr lang="zh-CN" altLang="ko-KR" sz="1300" dirty="0">
              <a:solidFill>
                <a:srgbClr val="4444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EC8C2DD2-3E96-4993-B7B8-A6249B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65700"/>
            <a:ext cx="1828800" cy="163513"/>
          </a:xfrm>
          <a:prstGeom prst="rect">
            <a:avLst/>
          </a:prstGeom>
          <a:solidFill>
            <a:srgbClr val="C9A84C"/>
          </a:solidFill>
          <a:ln w="12600" cap="flat">
            <a:solidFill>
              <a:srgbClr val="C9A84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Calibri"/>
        <a:ea typeface=""/>
        <a:cs typeface="Noto Sans CJK SC"/>
      </a:majorFont>
      <a:minorFont>
        <a:latin typeface="Calibri"/>
        <a:ea typeface=""/>
        <a:cs typeface="Noto Sans CJK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 CJK S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 CJK SC" charset="0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BankSystem_통합완성본</Template>
  <TotalTime>1026</TotalTime>
  <Words>1530</Words>
  <Application>Microsoft Office PowerPoint</Application>
  <PresentationFormat>화면 슬라이드 쇼(16:9)</PresentationFormat>
  <Paragraphs>217</Paragraphs>
  <Slides>12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Times New Roman</vt:lpstr>
      <vt:lpstr>Calibri</vt:lpstr>
      <vt:lpstr>Noto Sans CJK SC</vt:lpstr>
      <vt:lpstr>Arial</vt:lpstr>
      <vt:lpstr>DejaVu Sans</vt:lpstr>
      <vt:lpstr>Consolas</vt:lpstr>
      <vt:lpstr>Georgia</vt:lpstr>
      <vt:lpstr>Malgun Gothic</vt:lpstr>
      <vt:lpstr>+mn-lt</vt:lpstr>
      <vt:lpstr>+mn-ea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>PptxGenJS Presentation</dc:subject>
  <dc:creator>asd</dc:creator>
  <cp:lastModifiedBy>asd</cp:lastModifiedBy>
  <cp:revision>18</cp:revision>
  <cp:lastPrinted>2026-04-16T12:32:53Z</cp:lastPrinted>
  <dcterms:created xsi:type="dcterms:W3CDTF">2026-04-16T11:26:13Z</dcterms:created>
  <dcterms:modified xsi:type="dcterms:W3CDTF">2026-04-17T04:32:59Z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Notes">
    <vt:r8>12</vt:r8>
  </property>
  <property fmtid="{D5CDD505-2E9C-101B-9397-08002B2CF9AE}" pid="5" name="PresentationFormat">
    <vt:lpwstr>On-screen Show (16:9)</vt:lpwstr>
  </property>
  <property fmtid="{D5CDD505-2E9C-101B-9397-08002B2CF9AE}" pid="6" name="Slides">
    <vt:r8>12</vt:r8>
  </property>
</Properties>
</file>